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63" r:id="rId5"/>
    <p:sldId id="264" r:id="rId6"/>
    <p:sldId id="265" r:id="rId7"/>
    <p:sldId id="266" r:id="rId8"/>
    <p:sldId id="267" r:id="rId9"/>
    <p:sldId id="275" r:id="rId10"/>
    <p:sldId id="278" r:id="rId11"/>
    <p:sldId id="260" r:id="rId12"/>
    <p:sldId id="268" r:id="rId13"/>
    <p:sldId id="269" r:id="rId14"/>
    <p:sldId id="270" r:id="rId15"/>
    <p:sldId id="271" r:id="rId16"/>
    <p:sldId id="281" r:id="rId17"/>
    <p:sldId id="261" r:id="rId18"/>
    <p:sldId id="279" r:id="rId19"/>
    <p:sldId id="280" r:id="rId20"/>
    <p:sldId id="282" r:id="rId21"/>
    <p:sldId id="283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D2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23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45" d="100"/>
        <a:sy n="14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9CF84B-3151-4AF6-9396-E4EB63C25259}" type="datetimeFigureOut">
              <a:rPr lang="ko-KR" altLang="en-US" smtClean="0"/>
              <a:t>2022-01-12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A7683-7F6A-432D-8B62-8DF7F2CFAE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6095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7E0E11-40DF-4211-91D5-CA1955CC5D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90A3ACF-FB1C-4331-A093-1DB1CB3743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7C6C64-EF2E-48A5-B471-882AB9811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C59B-3002-4246-A046-99BBFC5C7D77}" type="datetimeFigureOut">
              <a:rPr lang="ko-KR" altLang="en-US" smtClean="0"/>
              <a:t>2022-01-12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381B0C-8F3B-44A9-AA50-18A4CC0FB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A31A80-EA8B-4234-9860-9298A53C7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7A271-1846-460E-9A2F-982F8859BE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39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064D00-ED6A-4CA6-9402-847D1D36A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4B12AD-6307-457C-80B2-1FF8F7B8E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7D6378-95C5-46E0-A6DF-F2A490EC6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C59B-3002-4246-A046-99BBFC5C7D77}" type="datetimeFigureOut">
              <a:rPr lang="ko-KR" altLang="en-US" smtClean="0"/>
              <a:t>2022-01-12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0C117A-004E-4978-B6E6-C7A477402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CE8CB1-F75C-4EA9-A7B0-47AD5F29D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7A271-1846-460E-9A2F-982F8859BE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378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2279B7-8FD6-466A-859F-3079ECA00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0F076C-B0D2-4A69-8FA8-CEF4E30244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679C95-3A18-43B2-9941-604265191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C59B-3002-4246-A046-99BBFC5C7D77}" type="datetimeFigureOut">
              <a:rPr lang="ko-KR" altLang="en-US" smtClean="0"/>
              <a:t>2022-01-12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92D499-5D8B-4EB5-AA0B-3324BF13C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6F818D-C1A5-40D2-9F5A-EDA9EE02B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7A271-1846-460E-9A2F-982F8859BE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65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E10102-9E80-4B33-9B61-0564B1C7C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65B316-1F5B-4297-A79A-AA971815A2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7B72EA5-3B88-4F1D-99A8-D2277C75CA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8E034D1-9C31-49BA-A2A7-304936801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C59B-3002-4246-A046-99BBFC5C7D77}" type="datetimeFigureOut">
              <a:rPr lang="ko-KR" altLang="en-US" smtClean="0"/>
              <a:t>2022-01-12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28938F7-72C2-49F9-97B8-4951A7909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2D5EF8-C5CE-4137-B3CD-6C3049EA0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7A271-1846-460E-9A2F-982F8859BE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3269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7A9507-A5F5-4AB5-8142-67418D8E4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0F2276-EFD2-483C-80A8-A9E131161C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9501E56-91E4-430F-B4A4-368A596398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FF0C415-F79C-475C-BF99-874F8953F7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4F36EFA-0723-46AB-A92D-751AD6B355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96EA51D-C800-4C49-8073-8E7E34631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C59B-3002-4246-A046-99BBFC5C7D77}" type="datetimeFigureOut">
              <a:rPr lang="ko-KR" altLang="en-US" smtClean="0"/>
              <a:t>2022-01-12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4125387-4140-4BDA-8659-2C1AD8B08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D17D3FF-0B1F-4954-9DD2-56B9EA84A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7A271-1846-460E-9A2F-982F8859BE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8435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69F437-1286-432B-AADA-F61132D06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BF53DB2-8898-4718-BFA7-C092682C7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C59B-3002-4246-A046-99BBFC5C7D77}" type="datetimeFigureOut">
              <a:rPr lang="ko-KR" altLang="en-US" smtClean="0"/>
              <a:t>2022-01-12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E9AC36-3888-497C-85A6-EA2521145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59DB625-8A43-4FEF-9FEE-7988929D9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7A271-1846-460E-9A2F-982F8859BE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4522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BFD93CB-BE47-4458-97DC-A1C436474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C59B-3002-4246-A046-99BBFC5C7D77}" type="datetimeFigureOut">
              <a:rPr lang="ko-KR" altLang="en-US" smtClean="0"/>
              <a:t>2022-01-12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54DFF48-036F-4819-BC66-DAD3E174E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077FE0-1DA0-4CA4-8366-79030FE79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7A271-1846-460E-9A2F-982F8859BE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500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BA33E7-0296-4AD9-87B7-4639C2416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7BD14D-B761-4848-8AC8-279B982F5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A6CA692-05CB-489A-BBD8-0DD4E41A9C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152CCCB-AD9A-4696-B03F-90260E6BF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C59B-3002-4246-A046-99BBFC5C7D77}" type="datetimeFigureOut">
              <a:rPr lang="ko-KR" altLang="en-US" smtClean="0"/>
              <a:t>2022-01-12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BFFA302-37C4-4C20-B8A6-81BC57CF7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2AC0836-231D-4FD6-9F17-CF4FDA19D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7A271-1846-460E-9A2F-982F8859BE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541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CAB7D9-E629-4E44-8915-E956DA062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0C9BBF1-8438-4D9B-B386-884C34AF92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68C495F-3DD0-4B82-8446-84D768ABBA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671F293-7516-4790-A549-096962660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C59B-3002-4246-A046-99BBFC5C7D77}" type="datetimeFigureOut">
              <a:rPr lang="ko-KR" altLang="en-US" smtClean="0"/>
              <a:t>2022-01-12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EEC6D58-D5AF-48CB-BBC7-B78211624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D18058F-36D3-4BDA-B5A3-F36816A2F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7A271-1846-460E-9A2F-982F8859BE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0762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5D9291-7987-4005-AB7C-E115E8974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50E4FF-EFEF-4CC8-88DC-E5B5C158B4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BFA1A6-3470-42A4-B668-4C1A51D4F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C59B-3002-4246-A046-99BBFC5C7D77}" type="datetimeFigureOut">
              <a:rPr lang="ko-KR" altLang="en-US" smtClean="0"/>
              <a:t>2022-01-12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4E9C7B-5238-4393-8D60-3EFA4088F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49993A-9CA3-45C9-84AC-1BF0B9B25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7A271-1846-460E-9A2F-982F8859BE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6193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536A8E-14FB-435E-BBD9-5601675A7A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D839259-9DD5-4643-B90A-6ABD20B13F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045A2C-239E-46BE-B803-17EE2F6D3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C59B-3002-4246-A046-99BBFC5C7D77}" type="datetimeFigureOut">
              <a:rPr lang="ko-KR" altLang="en-US" smtClean="0"/>
              <a:t>2022-01-12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E4A26F-7598-4D08-9A47-682F4EADD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9A7992-0393-41D1-8C7F-8004F6D03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7A271-1846-460E-9A2F-982F8859BE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964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DA7BB7B-2779-4C2A-A75D-6E2868602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34B0D04-F2F3-43AA-A36A-B1670F14F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31B045-6B2E-4675-9705-055AE19FF7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EC59B-3002-4246-A046-99BBFC5C7D77}" type="datetimeFigureOut">
              <a:rPr lang="ko-KR" altLang="en-US" smtClean="0"/>
              <a:t>2022-01-12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C9C17C-28A7-4D19-8FAF-57ED489EAC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51B473-75F2-445F-AF7F-E13D12A3CD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47A271-1846-460E-9A2F-982F8859BE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307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7" Type="http://schemas.openxmlformats.org/officeDocument/2006/relationships/image" Target="../media/image2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G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G"/><Relationship Id="rId5" Type="http://schemas.openxmlformats.org/officeDocument/2006/relationships/image" Target="../media/image26.JPG"/><Relationship Id="rId4" Type="http://schemas.openxmlformats.org/officeDocument/2006/relationships/image" Target="../media/image25.JP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G"/><Relationship Id="rId3" Type="http://schemas.openxmlformats.org/officeDocument/2006/relationships/image" Target="../media/image28.JPG"/><Relationship Id="rId7" Type="http://schemas.openxmlformats.org/officeDocument/2006/relationships/image" Target="../media/image3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JPG"/><Relationship Id="rId5" Type="http://schemas.openxmlformats.org/officeDocument/2006/relationships/image" Target="../media/image30.JPG"/><Relationship Id="rId10" Type="http://schemas.openxmlformats.org/officeDocument/2006/relationships/image" Target="../media/image35.JPG"/><Relationship Id="rId4" Type="http://schemas.openxmlformats.org/officeDocument/2006/relationships/image" Target="../media/image29.JPG"/><Relationship Id="rId9" Type="http://schemas.openxmlformats.org/officeDocument/2006/relationships/image" Target="../media/image3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JPG"/><Relationship Id="rId5" Type="http://schemas.openxmlformats.org/officeDocument/2006/relationships/image" Target="../media/image39.JPG"/><Relationship Id="rId4" Type="http://schemas.openxmlformats.org/officeDocument/2006/relationships/image" Target="../media/image38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D2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D7CE3BB4-9BD6-438A-9BB9-73F44B7CDF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83051"/>
            <a:ext cx="9144000" cy="1176251"/>
          </a:xfrm>
        </p:spPr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김민</a:t>
            </a:r>
            <a:r>
              <a:rPr lang="en-US" altLang="ko-KR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, </a:t>
            </a:r>
            <a:r>
              <a:rPr lang="ko-KR" altLang="en-US" dirty="0" err="1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박세령</a:t>
            </a:r>
            <a:endParaRPr lang="ko-KR" altLang="en-US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6" name="액자 5">
            <a:extLst>
              <a:ext uri="{FF2B5EF4-FFF2-40B4-BE49-F238E27FC236}">
                <a16:creationId xmlns:a16="http://schemas.microsoft.com/office/drawing/2014/main" id="{F578C7D8-1F69-4858-AD4D-C41B81057B05}"/>
              </a:ext>
            </a:extLst>
          </p:cNvPr>
          <p:cNvSpPr/>
          <p:nvPr/>
        </p:nvSpPr>
        <p:spPr>
          <a:xfrm>
            <a:off x="1487978" y="1786081"/>
            <a:ext cx="9216044" cy="2552007"/>
          </a:xfrm>
          <a:prstGeom prst="frame">
            <a:avLst>
              <a:gd name="adj1" fmla="val 384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400" dirty="0"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네이버 웹툰</a:t>
            </a:r>
            <a:br>
              <a:rPr lang="en-US" altLang="ko-KR" sz="5400" dirty="0"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</a:br>
            <a:r>
              <a:rPr lang="ko-KR" altLang="en-US" sz="5400" dirty="0"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추천 시스템을 위한 </a:t>
            </a:r>
            <a:r>
              <a:rPr lang="en-US" altLang="ko-KR" sz="5400" dirty="0"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DB</a:t>
            </a:r>
            <a:endParaRPr lang="ko-KR" altLang="en-US" sz="5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6490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B4FF250E-BE28-4A83-85BD-4C88A82282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5700" y="182878"/>
            <a:ext cx="8134350" cy="800100"/>
          </a:xfr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066F2CE-6248-4A55-94DE-17D5F9771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5618" y="370637"/>
            <a:ext cx="2515987" cy="491086"/>
          </a:xfrm>
        </p:spPr>
        <p:txBody>
          <a:bodyPr>
            <a:noAutofit/>
          </a:bodyPr>
          <a:lstStyle/>
          <a:p>
            <a:r>
              <a:rPr lang="en-US" altLang="ko-KR" sz="2800" dirty="0">
                <a:latin typeface="나눔고딕OTF ExtraBold" panose="020D0904000000000000" pitchFamily="34" charset="-127"/>
                <a:ea typeface="나눔고딕OTF ExtraBold" panose="020D0904000000000000" pitchFamily="34" charset="-127"/>
              </a:rPr>
              <a:t>Database </a:t>
            </a:r>
            <a:r>
              <a:rPr lang="ko-KR" altLang="en-US" sz="2800" dirty="0">
                <a:latin typeface="나눔고딕OTF ExtraBold" panose="020D0904000000000000" pitchFamily="34" charset="-127"/>
                <a:ea typeface="나눔고딕OTF ExtraBold" panose="020D0904000000000000" pitchFamily="34" charset="-127"/>
              </a:rPr>
              <a:t>개요</a:t>
            </a:r>
          </a:p>
        </p:txBody>
      </p:sp>
      <p:sp>
        <p:nvSpPr>
          <p:cNvPr id="8" name="액자 7">
            <a:extLst>
              <a:ext uri="{FF2B5EF4-FFF2-40B4-BE49-F238E27FC236}">
                <a16:creationId xmlns:a16="http://schemas.microsoft.com/office/drawing/2014/main" id="{F31B13D4-D7BE-4B88-8CF9-334295D64E6A}"/>
              </a:ext>
            </a:extLst>
          </p:cNvPr>
          <p:cNvSpPr/>
          <p:nvPr/>
        </p:nvSpPr>
        <p:spPr>
          <a:xfrm>
            <a:off x="308089" y="1113906"/>
            <a:ext cx="11562486" cy="5478088"/>
          </a:xfrm>
          <a:prstGeom prst="frame">
            <a:avLst>
              <a:gd name="adj1" fmla="val 1686"/>
            </a:avLst>
          </a:prstGeom>
          <a:solidFill>
            <a:srgbClr val="0FD2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17B082-B792-4BBD-980C-56BF29D40397}"/>
              </a:ext>
            </a:extLst>
          </p:cNvPr>
          <p:cNvSpPr txBox="1"/>
          <p:nvPr/>
        </p:nvSpPr>
        <p:spPr>
          <a:xfrm>
            <a:off x="922972" y="1471353"/>
            <a:ext cx="10332720" cy="4455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DB 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이름</a:t>
            </a: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: &lt;NAVER_WEBTOON&gt;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DB 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요청 업체</a:t>
            </a: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: 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네이버 웹툰</a:t>
            </a:r>
            <a:endParaRPr lang="en-US" altLang="ko-KR" dirty="0">
              <a:latin typeface="나눔고딕OTF Light" panose="020D0904000000000000" pitchFamily="34" charset="-127"/>
              <a:ea typeface="나눔고딕OTF Light" panose="020D0904000000000000" pitchFamily="34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목적</a:t>
            </a: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: 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네이버 웹툰 이용자에게 작품 추천 서비스를 제공하기 위해 필요한 데이터베이스</a:t>
            </a:r>
            <a:endParaRPr lang="en-US" altLang="ko-KR" dirty="0">
              <a:latin typeface="나눔고딕OTF Light" panose="020D0904000000000000" pitchFamily="34" charset="-127"/>
              <a:ea typeface="나눔고딕OTF Light" panose="020D0904000000000000" pitchFamily="34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요구 사항</a:t>
            </a: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: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 </a:t>
            </a:r>
            <a:r>
              <a:rPr lang="ko-KR" altLang="en-US" u="sng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웹툰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에 대해서 </a:t>
            </a:r>
            <a:r>
              <a:rPr lang="ko-KR" altLang="en-US" dirty="0" err="1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작품명</a:t>
            </a: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, </a:t>
            </a:r>
            <a:r>
              <a:rPr lang="ko-KR" altLang="en-US" dirty="0" err="1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작가명</a:t>
            </a: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, 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선호 성별</a:t>
            </a: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, 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선호 연령대</a:t>
            </a: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, 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연재 여부</a:t>
            </a: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, 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드라마화 여부</a:t>
            </a: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, 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줄거리</a:t>
            </a: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, 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주요 소재</a:t>
            </a: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, 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웹툰의 그림체에 관한 정보가 필요함</a:t>
            </a: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. </a:t>
            </a:r>
            <a:r>
              <a:rPr lang="ko-KR" altLang="en-US" u="sng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작가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에 대해서 </a:t>
            </a:r>
            <a:r>
              <a:rPr lang="ko-KR" altLang="en-US" dirty="0" err="1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작가명</a:t>
            </a: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, 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작가의 </a:t>
            </a:r>
            <a:r>
              <a:rPr lang="ko-KR" altLang="en-US" dirty="0" err="1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작품명</a:t>
            </a: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, 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작가의 그림체에 관한 정보가 필요함</a:t>
            </a: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. </a:t>
            </a:r>
            <a:r>
              <a:rPr lang="ko-KR" altLang="en-US" u="sng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이용자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에 대해서 아이디</a:t>
            </a: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, 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성별</a:t>
            </a: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, 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나이</a:t>
            </a: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, 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구독 웹툰</a:t>
            </a: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, 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선호 작가</a:t>
            </a: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, 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소재 취향</a:t>
            </a: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, </a:t>
            </a:r>
            <a:r>
              <a:rPr lang="ko-KR" altLang="en-US" dirty="0" err="1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그림체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 취향에 관한 정보가 필요함</a:t>
            </a: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이 </a:t>
            </a: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DB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의 특징</a:t>
            </a: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: 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이용자 별 </a:t>
            </a:r>
            <a:r>
              <a:rPr lang="ko-KR" altLang="en-US" dirty="0" err="1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그림체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 </a:t>
            </a: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&amp; 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소재 취향</a:t>
            </a: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, 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선호 작가를 기반으로 한 추천 시스템을 목적으로 제작됨</a:t>
            </a:r>
          </a:p>
        </p:txBody>
      </p:sp>
    </p:spTree>
    <p:extLst>
      <p:ext uri="{BB962C8B-B14F-4D97-AF65-F5344CB8AC3E}">
        <p14:creationId xmlns:p14="http://schemas.microsoft.com/office/powerpoint/2010/main" val="232465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B4FF250E-BE28-4A83-85BD-4C88A82282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5700" y="182878"/>
            <a:ext cx="8134350" cy="800100"/>
          </a:xfr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066F2CE-6248-4A55-94DE-17D5F9771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118" y="377707"/>
            <a:ext cx="1641762" cy="491086"/>
          </a:xfrm>
        </p:spPr>
        <p:txBody>
          <a:bodyPr>
            <a:noAutofit/>
          </a:bodyPr>
          <a:lstStyle/>
          <a:p>
            <a:r>
              <a:rPr lang="en-US" altLang="ko-KR" sz="2800" dirty="0">
                <a:latin typeface="나눔고딕OTF ExtraBold" panose="020D0904000000000000" pitchFamily="34" charset="-127"/>
                <a:ea typeface="나눔고딕OTF ExtraBold" panose="020D0904000000000000" pitchFamily="34" charset="-127"/>
              </a:rPr>
              <a:t>ERD </a:t>
            </a:r>
            <a:r>
              <a:rPr lang="ko-KR" altLang="en-US" sz="2800" dirty="0">
                <a:latin typeface="나눔고딕OTF ExtraBold" panose="020D0904000000000000" pitchFamily="34" charset="-127"/>
                <a:ea typeface="나눔고딕OTF ExtraBold" panose="020D0904000000000000" pitchFamily="34" charset="-127"/>
              </a:rPr>
              <a:t>소개</a:t>
            </a:r>
          </a:p>
        </p:txBody>
      </p:sp>
      <p:sp>
        <p:nvSpPr>
          <p:cNvPr id="8" name="액자 7">
            <a:extLst>
              <a:ext uri="{FF2B5EF4-FFF2-40B4-BE49-F238E27FC236}">
                <a16:creationId xmlns:a16="http://schemas.microsoft.com/office/drawing/2014/main" id="{F31B13D4-D7BE-4B88-8CF9-334295D64E6A}"/>
              </a:ext>
            </a:extLst>
          </p:cNvPr>
          <p:cNvSpPr/>
          <p:nvPr/>
        </p:nvSpPr>
        <p:spPr>
          <a:xfrm>
            <a:off x="308089" y="1113906"/>
            <a:ext cx="11562486" cy="5478088"/>
          </a:xfrm>
          <a:prstGeom prst="frame">
            <a:avLst>
              <a:gd name="adj1" fmla="val 1686"/>
            </a:avLst>
          </a:prstGeom>
          <a:solidFill>
            <a:srgbClr val="0FD2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E3992AD-7B40-4508-801B-3398E05DF3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175" y="1443125"/>
            <a:ext cx="8629650" cy="481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624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점수판, 스크린샷이(가) 표시된 사진&#10;&#10;자동 생성된 설명">
            <a:extLst>
              <a:ext uri="{FF2B5EF4-FFF2-40B4-BE49-F238E27FC236}">
                <a16:creationId xmlns:a16="http://schemas.microsoft.com/office/drawing/2014/main" id="{177CF7FE-D71B-4C3B-84BE-E01C54FD3F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24" y="255616"/>
            <a:ext cx="3458144" cy="2470958"/>
          </a:xfrm>
          <a:prstGeom prst="rect">
            <a:avLst/>
          </a:prstGeom>
        </p:spPr>
      </p:pic>
      <p:pic>
        <p:nvPicPr>
          <p:cNvPr id="9" name="그림 8" descr="테이블이(가) 표시된 사진&#10;&#10;자동 생성된 설명">
            <a:extLst>
              <a:ext uri="{FF2B5EF4-FFF2-40B4-BE49-F238E27FC236}">
                <a16:creationId xmlns:a16="http://schemas.microsoft.com/office/drawing/2014/main" id="{3FCF63C4-C88B-4DF5-87B1-937CA672A5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24" y="2963898"/>
            <a:ext cx="3458144" cy="1686025"/>
          </a:xfrm>
          <a:prstGeom prst="rect">
            <a:avLst/>
          </a:prstGeom>
        </p:spPr>
      </p:pic>
      <p:pic>
        <p:nvPicPr>
          <p:cNvPr id="11" name="그림 10" descr="테이블이(가) 표시된 사진&#10;&#10;자동 생성된 설명">
            <a:extLst>
              <a:ext uri="{FF2B5EF4-FFF2-40B4-BE49-F238E27FC236}">
                <a16:creationId xmlns:a16="http://schemas.microsoft.com/office/drawing/2014/main" id="{7ECC7C0D-8F4F-468A-9D25-50FC3816AE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23" y="4887248"/>
            <a:ext cx="3458144" cy="174630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BB9C0BA-8502-4284-B504-7CFCFFDFF7D8}"/>
              </a:ext>
            </a:extLst>
          </p:cNvPr>
          <p:cNvSpPr txBox="1"/>
          <p:nvPr/>
        </p:nvSpPr>
        <p:spPr>
          <a:xfrm>
            <a:off x="4887880" y="838993"/>
            <a:ext cx="6625503" cy="1304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&lt;WEBTOON&gt; 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웹툰 정보 테이블</a:t>
            </a:r>
            <a:endParaRPr lang="en-US" altLang="ko-KR" dirty="0">
              <a:latin typeface="나눔고딕OTF Light" panose="020D0904000000000000" pitchFamily="34" charset="-127"/>
              <a:ea typeface="나눔고딕OTF Light" panose="020D09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식별을 위한 웹툰 코드</a:t>
            </a: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, </a:t>
            </a:r>
            <a:r>
              <a:rPr lang="ko-KR" altLang="en-US" dirty="0" err="1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웹툰이름</a:t>
            </a: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, 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선호 성별</a:t>
            </a: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, 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선호 연령대</a:t>
            </a: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, 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연재 여부</a:t>
            </a: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, 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드라마화 여부</a:t>
            </a: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, 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줄거리</a:t>
            </a:r>
            <a:endParaRPr lang="en-US" altLang="ko-KR" dirty="0">
              <a:latin typeface="나눔고딕OTF Light" panose="020D0904000000000000" pitchFamily="34" charset="-127"/>
              <a:ea typeface="나눔고딕OTF Light" panose="020D0904000000000000" pitchFamily="34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44FB9C-5F64-41D6-814D-95D0728C9E24}"/>
              </a:ext>
            </a:extLst>
          </p:cNvPr>
          <p:cNvSpPr txBox="1"/>
          <p:nvPr/>
        </p:nvSpPr>
        <p:spPr>
          <a:xfrm>
            <a:off x="4888642" y="3362557"/>
            <a:ext cx="6625503" cy="888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&lt;AUTHOR&gt; 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작가 정보 테이블</a:t>
            </a:r>
            <a:endParaRPr lang="en-US" altLang="ko-KR" dirty="0">
              <a:latin typeface="나눔고딕OTF Light" panose="020D0904000000000000" pitchFamily="34" charset="-127"/>
              <a:ea typeface="나눔고딕OTF Light" panose="020D09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dirty="0" err="1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작가명</a:t>
            </a: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, 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작가 성별</a:t>
            </a: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, 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작가 나이</a:t>
            </a:r>
            <a:endParaRPr lang="en-US" altLang="ko-KR" dirty="0">
              <a:latin typeface="나눔고딕OTF Light" panose="020D0904000000000000" pitchFamily="34" charset="-127"/>
              <a:ea typeface="나눔고딕OTF Light" panose="020D0904000000000000" pitchFamily="34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1AC9DF-3CA2-4206-89A0-102947833BBD}"/>
              </a:ext>
            </a:extLst>
          </p:cNvPr>
          <p:cNvSpPr txBox="1"/>
          <p:nvPr/>
        </p:nvSpPr>
        <p:spPr>
          <a:xfrm>
            <a:off x="4887880" y="5316049"/>
            <a:ext cx="6625503" cy="888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&lt;READER&gt; 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독자</a:t>
            </a: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(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이용자</a:t>
            </a: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)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 정보 테이블</a:t>
            </a:r>
            <a:endParaRPr lang="en-US" altLang="ko-KR" dirty="0">
              <a:latin typeface="나눔고딕OTF Light" panose="020D0904000000000000" pitchFamily="34" charset="-127"/>
              <a:ea typeface="나눔고딕OTF Light" panose="020D09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아이디</a:t>
            </a: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, 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독자 성별</a:t>
            </a: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, 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독자 나이</a:t>
            </a:r>
            <a:endParaRPr lang="en-US" altLang="ko-KR" dirty="0">
              <a:latin typeface="나눔고딕OTF Light" panose="020D0904000000000000" pitchFamily="34" charset="-127"/>
              <a:ea typeface="나눔고딕OTF Light" panose="020D09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9230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10196B8-DDAF-4434-80E3-CEA842E3E0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839" y="1337596"/>
            <a:ext cx="3512814" cy="152197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D9CCC17-6E3F-4D94-8C9B-A5CAEE2EEA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839" y="4033433"/>
            <a:ext cx="3512814" cy="14654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650C8F-38AA-40E4-8013-1CBEC6F5DB3F}"/>
              </a:ext>
            </a:extLst>
          </p:cNvPr>
          <p:cNvSpPr txBox="1"/>
          <p:nvPr/>
        </p:nvSpPr>
        <p:spPr>
          <a:xfrm>
            <a:off x="5566497" y="1446483"/>
            <a:ext cx="6625503" cy="1304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&lt;MATERIAL&gt; 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소재 정보 테이블</a:t>
            </a:r>
            <a:endParaRPr lang="en-US" altLang="ko-KR" dirty="0">
              <a:latin typeface="나눔고딕OTF Light" panose="020D0904000000000000" pitchFamily="34" charset="-127"/>
              <a:ea typeface="나눔고딕OTF Light" panose="020D09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소재 분류의 일관된 관리를 위해 따로 테이블 생성</a:t>
            </a:r>
            <a:endParaRPr lang="en-US" altLang="ko-KR" dirty="0">
              <a:latin typeface="나눔고딕OTF Light" panose="020D0904000000000000" pitchFamily="34" charset="-127"/>
              <a:ea typeface="나눔고딕OTF Light" panose="020D09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소재코드</a:t>
            </a: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(</a:t>
            </a:r>
            <a:r>
              <a:rPr lang="en-US" altLang="ko-KR" dirty="0" err="1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Mcode</a:t>
            </a: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)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로 관리 </a:t>
            </a:r>
            <a:endParaRPr lang="en-US" altLang="ko-KR" dirty="0">
              <a:latin typeface="나눔고딕OTF Light" panose="020D0904000000000000" pitchFamily="34" charset="-127"/>
              <a:ea typeface="나눔고딕OTF Light" panose="020D0904000000000000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ECEA9E-F82C-42D1-B6AA-89CECB6B62D0}"/>
              </a:ext>
            </a:extLst>
          </p:cNvPr>
          <p:cNvSpPr txBox="1"/>
          <p:nvPr/>
        </p:nvSpPr>
        <p:spPr>
          <a:xfrm>
            <a:off x="5566496" y="4114065"/>
            <a:ext cx="6625503" cy="1304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&lt;DRAWING_STYLE&gt; </a:t>
            </a:r>
            <a:r>
              <a:rPr lang="ko-KR" altLang="en-US" dirty="0" err="1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그림체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 정보 테이블</a:t>
            </a:r>
            <a:endParaRPr lang="en-US" altLang="ko-KR" dirty="0">
              <a:latin typeface="나눔고딕OTF Light" panose="020D0904000000000000" pitchFamily="34" charset="-127"/>
              <a:ea typeface="나눔고딕OTF Light" panose="020D09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dirty="0" err="1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그림체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 분류의 일관된 관리를 위해 따로 테이블 생성</a:t>
            </a:r>
            <a:endParaRPr lang="en-US" altLang="ko-KR" dirty="0">
              <a:latin typeface="나눔고딕OTF Light" panose="020D0904000000000000" pitchFamily="34" charset="-127"/>
              <a:ea typeface="나눔고딕OTF Light" panose="020D09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dirty="0" err="1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그림체코드</a:t>
            </a: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(</a:t>
            </a:r>
            <a:r>
              <a:rPr lang="en-US" altLang="ko-KR" dirty="0" err="1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Dcode</a:t>
            </a: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)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로 관리 </a:t>
            </a:r>
            <a:endParaRPr lang="en-US" altLang="ko-KR" dirty="0">
              <a:latin typeface="나눔고딕OTF Light" panose="020D0904000000000000" pitchFamily="34" charset="-127"/>
              <a:ea typeface="나눔고딕OTF Light" panose="020D09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03541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모니터, 스크린샷, 점수판이(가) 표시된 사진&#10;&#10;자동 생성된 설명">
            <a:extLst>
              <a:ext uri="{FF2B5EF4-FFF2-40B4-BE49-F238E27FC236}">
                <a16:creationId xmlns:a16="http://schemas.microsoft.com/office/drawing/2014/main" id="{570884DE-7397-40F7-A74A-7F3CA3FC2F7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03" t="3519" r="6433" b="3005"/>
          <a:stretch/>
        </p:blipFill>
        <p:spPr>
          <a:xfrm>
            <a:off x="194367" y="249382"/>
            <a:ext cx="3665914" cy="635923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76CAEF9-0B34-4431-820C-AD5D9D275D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6901" y="249382"/>
            <a:ext cx="8125546" cy="29343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618A99-C47F-4955-A832-C3DD43EF3028}"/>
              </a:ext>
            </a:extLst>
          </p:cNvPr>
          <p:cNvSpPr txBox="1"/>
          <p:nvPr/>
        </p:nvSpPr>
        <p:spPr>
          <a:xfrm>
            <a:off x="5419899" y="3274479"/>
            <a:ext cx="6492240" cy="1304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각 웹툰 별 소재와 그림체가 다양함</a:t>
            </a:r>
            <a:endParaRPr lang="en-US" altLang="ko-KR" dirty="0">
              <a:latin typeface="나눔고딕OTF Light" panose="020D0904000000000000" pitchFamily="34" charset="-127"/>
              <a:ea typeface="나눔고딕OTF Light" panose="020D09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ex) 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소재</a:t>
            </a: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: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로맨스</a:t>
            </a: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, 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성장</a:t>
            </a: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, 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단짝친구 </a:t>
            </a: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/ </a:t>
            </a:r>
            <a:r>
              <a:rPr lang="ko-KR" altLang="en-US" dirty="0" err="1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그림체</a:t>
            </a: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: 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귀여운</a:t>
            </a: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, 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강아지상</a:t>
            </a:r>
            <a:endParaRPr lang="en-US" altLang="ko-KR" dirty="0">
              <a:latin typeface="나눔고딕OTF Light" panose="020D0904000000000000" pitchFamily="34" charset="-127"/>
              <a:ea typeface="나눔고딕OTF Light" panose="020D09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다대다 관계 → 교량 생성 </a:t>
            </a: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(WT_M, WT_DS)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864857-ADCC-498C-B620-CE1ED691CB40}"/>
              </a:ext>
            </a:extLst>
          </p:cNvPr>
          <p:cNvSpPr txBox="1"/>
          <p:nvPr/>
        </p:nvSpPr>
        <p:spPr>
          <a:xfrm>
            <a:off x="4026131" y="5578735"/>
            <a:ext cx="6492240" cy="888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한 웹툰에 여러 명의 작가가 함께 작업하는 경우 有</a:t>
            </a:r>
            <a:endParaRPr lang="en-US" altLang="ko-KR" dirty="0">
              <a:latin typeface="나눔고딕OTF Light" panose="020D0904000000000000" pitchFamily="34" charset="-127"/>
              <a:ea typeface="나눔고딕OTF Light" panose="020D09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다대다 관계 → 교량 생성 </a:t>
            </a: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(WT_AT)</a:t>
            </a:r>
          </a:p>
        </p:txBody>
      </p:sp>
    </p:spTree>
    <p:extLst>
      <p:ext uri="{BB962C8B-B14F-4D97-AF65-F5344CB8AC3E}">
        <p14:creationId xmlns:p14="http://schemas.microsoft.com/office/powerpoint/2010/main" val="2475012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C6582D3-2FC4-484C-839A-1B4AB5F909E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66" b="11663"/>
          <a:stretch/>
        </p:blipFill>
        <p:spPr>
          <a:xfrm>
            <a:off x="1326455" y="461355"/>
            <a:ext cx="9322959" cy="125522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C9552E8-84F2-43F3-BB4C-6A2640352BB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5" t="7231" b="5744"/>
          <a:stretch/>
        </p:blipFill>
        <p:spPr>
          <a:xfrm>
            <a:off x="2182379" y="2651760"/>
            <a:ext cx="7611110" cy="29177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7D00FF-51DC-472A-978A-D2B18EB3A636}"/>
              </a:ext>
            </a:extLst>
          </p:cNvPr>
          <p:cNvSpPr txBox="1"/>
          <p:nvPr/>
        </p:nvSpPr>
        <p:spPr>
          <a:xfrm>
            <a:off x="2741814" y="1829694"/>
            <a:ext cx="6492240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각</a:t>
            </a: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 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작가의 그림체에 관한 정보도 교량</a:t>
            </a: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(AT_DS)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으로 생성</a:t>
            </a:r>
            <a:endParaRPr lang="en-US" altLang="ko-KR" dirty="0">
              <a:latin typeface="나눔고딕OTF Light" panose="020D0904000000000000" pitchFamily="34" charset="-127"/>
              <a:ea typeface="나눔고딕OTF Light" panose="020D0904000000000000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6D5170-C94B-4851-A9D5-DCAB7E4F644A}"/>
              </a:ext>
            </a:extLst>
          </p:cNvPr>
          <p:cNvSpPr txBox="1"/>
          <p:nvPr/>
        </p:nvSpPr>
        <p:spPr>
          <a:xfrm>
            <a:off x="2647256" y="5656321"/>
            <a:ext cx="6897487" cy="888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웹툰과 구독 독자 사이는 다대다 관계 → 교량 생성 </a:t>
            </a: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(RD_WT)</a:t>
            </a:r>
          </a:p>
          <a:p>
            <a:pPr marL="285750" indent="-285750" algn="ctr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작가와 독자 사이도 다대다 관계 → 교량 생성 </a:t>
            </a: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(RD_AT)</a:t>
            </a:r>
          </a:p>
        </p:txBody>
      </p:sp>
    </p:spTree>
    <p:extLst>
      <p:ext uri="{BB962C8B-B14F-4D97-AF65-F5344CB8AC3E}">
        <p14:creationId xmlns:p14="http://schemas.microsoft.com/office/powerpoint/2010/main" val="2012206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AED278B-BB8C-4F65-A9E1-5CD53EAEB2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553" y="1082674"/>
            <a:ext cx="5683250" cy="46926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1140CE-B317-4C93-8C64-72336A80ABFA}"/>
              </a:ext>
            </a:extLst>
          </p:cNvPr>
          <p:cNvSpPr txBox="1"/>
          <p:nvPr/>
        </p:nvSpPr>
        <p:spPr>
          <a:xfrm>
            <a:off x="6601749" y="2776898"/>
            <a:ext cx="5037513" cy="1304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독자 별 소재 취향</a:t>
            </a: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, </a:t>
            </a:r>
            <a:r>
              <a:rPr lang="ko-KR" altLang="en-US" dirty="0" err="1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그림체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 취향</a:t>
            </a:r>
            <a:endParaRPr lang="en-US" altLang="ko-KR" dirty="0">
              <a:latin typeface="나눔고딕OTF Light" panose="020D0904000000000000" pitchFamily="34" charset="-127"/>
              <a:ea typeface="나눔고딕OTF Light" panose="020D09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추천 시스템에서 중요하게 다뤄질 정보</a:t>
            </a:r>
            <a:endParaRPr lang="en-US" altLang="ko-KR" dirty="0">
              <a:latin typeface="나눔고딕OTF Light" panose="020D0904000000000000" pitchFamily="34" charset="-127"/>
              <a:ea typeface="나눔고딕OTF Light" panose="020D09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다대다 관계이므로 교량 생성 </a:t>
            </a: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(RD_MT, RD_DS)</a:t>
            </a:r>
          </a:p>
        </p:txBody>
      </p:sp>
    </p:spTree>
    <p:extLst>
      <p:ext uri="{BB962C8B-B14F-4D97-AF65-F5344CB8AC3E}">
        <p14:creationId xmlns:p14="http://schemas.microsoft.com/office/powerpoint/2010/main" val="1042926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66F2CE-6248-4A55-94DE-17D5F9771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7773" y="286873"/>
            <a:ext cx="2776453" cy="491086"/>
          </a:xfrm>
        </p:spPr>
        <p:txBody>
          <a:bodyPr>
            <a:noAutofit/>
          </a:bodyPr>
          <a:lstStyle/>
          <a:p>
            <a:pPr algn="ctr"/>
            <a:r>
              <a:rPr lang="en-US" altLang="ko-KR" sz="2800" dirty="0">
                <a:latin typeface="나눔고딕OTF ExtraBold" panose="020D0904000000000000" pitchFamily="34" charset="-127"/>
                <a:ea typeface="나눔고딕OTF ExtraBold" panose="020D0904000000000000" pitchFamily="34" charset="-127"/>
              </a:rPr>
              <a:t>Table </a:t>
            </a:r>
            <a:r>
              <a:rPr lang="ko-KR" altLang="en-US" sz="2800" dirty="0">
                <a:latin typeface="나눔고딕OTF ExtraBold" panose="020D0904000000000000" pitchFamily="34" charset="-127"/>
                <a:ea typeface="나눔고딕OTF ExtraBold" panose="020D0904000000000000" pitchFamily="34" charset="-127"/>
              </a:rPr>
              <a:t>생성 쿼리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5464FE2F-828A-4610-868C-4A3C36F1C487}"/>
              </a:ext>
            </a:extLst>
          </p:cNvPr>
          <p:cNvSpPr txBox="1">
            <a:spLocks/>
          </p:cNvSpPr>
          <p:nvPr/>
        </p:nvSpPr>
        <p:spPr>
          <a:xfrm>
            <a:off x="611131" y="945351"/>
            <a:ext cx="10926934" cy="57879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200" b="1" dirty="0">
                <a:latin typeface="+mn-lt"/>
                <a:ea typeface="나눔고딕OTF ExtraBold" panose="020D0904000000000000" pitchFamily="34" charset="-127"/>
              </a:rPr>
              <a:t>#</a:t>
            </a:r>
            <a:r>
              <a:rPr lang="ko-KR" altLang="en-US" sz="1200" b="1" dirty="0">
                <a:latin typeface="+mn-lt"/>
                <a:ea typeface="나눔고딕OTF ExtraBold" panose="020D0904000000000000" pitchFamily="34" charset="-127"/>
              </a:rPr>
              <a:t>작가 테이블 생성 </a:t>
            </a:r>
            <a:r>
              <a:rPr lang="en-US" altLang="ko-KR" sz="1200" b="1" dirty="0">
                <a:latin typeface="+mn-lt"/>
                <a:ea typeface="나눔고딕OTF ExtraBold" panose="020D0904000000000000" pitchFamily="34" charset="-127"/>
              </a:rPr>
              <a:t>AUTHOR</a:t>
            </a:r>
          </a:p>
          <a:p>
            <a:r>
              <a:rPr lang="en-US" altLang="ko-KR" sz="1200" dirty="0">
                <a:latin typeface="+mn-lt"/>
                <a:ea typeface="나눔고딕OTF ExtraBold" panose="020D0904000000000000" pitchFamily="34" charset="-127"/>
              </a:rPr>
              <a:t>CREATE TABLE AUTHOR(</a:t>
            </a:r>
            <a:r>
              <a:rPr lang="en-US" altLang="ko-KR" sz="1200" dirty="0" err="1">
                <a:latin typeface="+mn-lt"/>
                <a:ea typeface="나눔고딕OTF ExtraBold" panose="020D0904000000000000" pitchFamily="34" charset="-127"/>
              </a:rPr>
              <a:t>Aname</a:t>
            </a:r>
            <a:r>
              <a:rPr lang="en-US" altLang="ko-KR" sz="1200" dirty="0">
                <a:latin typeface="+mn-lt"/>
                <a:ea typeface="나눔고딕OTF ExtraBold" panose="020D0904000000000000" pitchFamily="34" charset="-127"/>
              </a:rPr>
              <a:t> char(10) NOT NULL, sex char(1), primary key (</a:t>
            </a:r>
            <a:r>
              <a:rPr lang="en-US" altLang="ko-KR" sz="1200" dirty="0" err="1">
                <a:latin typeface="+mn-lt"/>
                <a:ea typeface="나눔고딕OTF ExtraBold" panose="020D0904000000000000" pitchFamily="34" charset="-127"/>
              </a:rPr>
              <a:t>Aname</a:t>
            </a:r>
            <a:r>
              <a:rPr lang="en-US" altLang="ko-KR" sz="1200" dirty="0">
                <a:latin typeface="+mn-lt"/>
                <a:ea typeface="나눔고딕OTF ExtraBold" panose="020D0904000000000000" pitchFamily="34" charset="-127"/>
              </a:rPr>
              <a:t>));</a:t>
            </a:r>
          </a:p>
          <a:p>
            <a:endParaRPr lang="en-US" altLang="ko-KR" sz="1200" dirty="0">
              <a:latin typeface="+mn-lt"/>
              <a:ea typeface="나눔고딕OTF ExtraBold" panose="020D0904000000000000" pitchFamily="34" charset="-127"/>
            </a:endParaRPr>
          </a:p>
          <a:p>
            <a:r>
              <a:rPr lang="en-US" altLang="ko-KR" sz="1200" b="1" dirty="0">
                <a:latin typeface="+mn-lt"/>
                <a:ea typeface="나눔고딕OTF ExtraBold" panose="020D0904000000000000" pitchFamily="34" charset="-127"/>
              </a:rPr>
              <a:t>#</a:t>
            </a:r>
            <a:r>
              <a:rPr lang="ko-KR" altLang="en-US" sz="1200" b="1" dirty="0">
                <a:latin typeface="+mn-lt"/>
                <a:ea typeface="나눔고딕OTF ExtraBold" panose="020D0904000000000000" pitchFamily="34" charset="-127"/>
              </a:rPr>
              <a:t>독자 테이블 생성 </a:t>
            </a:r>
            <a:r>
              <a:rPr lang="en-US" altLang="ko-KR" sz="1200" b="1" dirty="0">
                <a:latin typeface="+mn-lt"/>
                <a:ea typeface="나눔고딕OTF ExtraBold" panose="020D0904000000000000" pitchFamily="34" charset="-127"/>
              </a:rPr>
              <a:t>READER</a:t>
            </a:r>
          </a:p>
          <a:p>
            <a:r>
              <a:rPr lang="en-US" altLang="ko-KR" sz="1200" dirty="0">
                <a:latin typeface="+mn-lt"/>
                <a:ea typeface="나눔고딕OTF ExtraBold" panose="020D0904000000000000" pitchFamily="34" charset="-127"/>
              </a:rPr>
              <a:t>CREATE TABLE READER(</a:t>
            </a:r>
            <a:r>
              <a:rPr lang="en-US" altLang="ko-KR" sz="1200" dirty="0" err="1">
                <a:latin typeface="+mn-lt"/>
                <a:ea typeface="나눔고딕OTF ExtraBold" panose="020D0904000000000000" pitchFamily="34" charset="-127"/>
              </a:rPr>
              <a:t>userID</a:t>
            </a:r>
            <a:r>
              <a:rPr lang="en-US" altLang="ko-KR" sz="1200" dirty="0">
                <a:latin typeface="+mn-lt"/>
                <a:ea typeface="나눔고딕OTF ExtraBold" panose="020D0904000000000000" pitchFamily="34" charset="-127"/>
              </a:rPr>
              <a:t> char(20) NOT NULL, sex char(1), age int(2), primary key (</a:t>
            </a:r>
            <a:r>
              <a:rPr lang="en-US" altLang="ko-KR" sz="1200" dirty="0" err="1">
                <a:latin typeface="+mn-lt"/>
                <a:ea typeface="나눔고딕OTF ExtraBold" panose="020D0904000000000000" pitchFamily="34" charset="-127"/>
              </a:rPr>
              <a:t>userID</a:t>
            </a:r>
            <a:r>
              <a:rPr lang="en-US" altLang="ko-KR" sz="1200" dirty="0">
                <a:latin typeface="+mn-lt"/>
                <a:ea typeface="나눔고딕OTF ExtraBold" panose="020D0904000000000000" pitchFamily="34" charset="-127"/>
              </a:rPr>
              <a:t>));</a:t>
            </a:r>
          </a:p>
          <a:p>
            <a:endParaRPr lang="en-US" altLang="ko-KR" sz="1200" dirty="0">
              <a:latin typeface="+mn-lt"/>
              <a:ea typeface="나눔고딕OTF ExtraBold" panose="020D0904000000000000" pitchFamily="34" charset="-127"/>
            </a:endParaRPr>
          </a:p>
          <a:p>
            <a:r>
              <a:rPr lang="en-US" altLang="ko-KR" sz="1200" b="1" dirty="0">
                <a:latin typeface="+mn-lt"/>
                <a:ea typeface="나눔고딕OTF ExtraBold" panose="020D0904000000000000" pitchFamily="34" charset="-127"/>
              </a:rPr>
              <a:t>#</a:t>
            </a:r>
            <a:r>
              <a:rPr lang="ko-KR" altLang="en-US" sz="1200" b="1" dirty="0">
                <a:latin typeface="+mn-lt"/>
                <a:ea typeface="나눔고딕OTF ExtraBold" panose="020D0904000000000000" pitchFamily="34" charset="-127"/>
              </a:rPr>
              <a:t>소재 테이블 생성 </a:t>
            </a:r>
            <a:r>
              <a:rPr lang="en-US" altLang="ko-KR" sz="1200" b="1" dirty="0">
                <a:latin typeface="+mn-lt"/>
                <a:ea typeface="나눔고딕OTF ExtraBold" panose="020D0904000000000000" pitchFamily="34" charset="-127"/>
              </a:rPr>
              <a:t>MATERIAL</a:t>
            </a:r>
          </a:p>
          <a:p>
            <a:r>
              <a:rPr lang="en-US" altLang="ko-KR" sz="1200" dirty="0">
                <a:latin typeface="+mn-lt"/>
                <a:ea typeface="나눔고딕OTF ExtraBold" panose="020D0904000000000000" pitchFamily="34" charset="-127"/>
              </a:rPr>
              <a:t>CREATE TABLE MATERIAL(</a:t>
            </a:r>
            <a:r>
              <a:rPr lang="en-US" altLang="ko-KR" sz="1200" dirty="0" err="1">
                <a:latin typeface="+mn-lt"/>
                <a:ea typeface="나눔고딕OTF ExtraBold" panose="020D0904000000000000" pitchFamily="34" charset="-127"/>
              </a:rPr>
              <a:t>Mcode</a:t>
            </a:r>
            <a:r>
              <a:rPr lang="en-US" altLang="ko-KR" sz="1200" dirty="0">
                <a:latin typeface="+mn-lt"/>
                <a:ea typeface="나눔고딕OTF ExtraBold" panose="020D0904000000000000" pitchFamily="34" charset="-127"/>
              </a:rPr>
              <a:t> int(2) NOT NULL, </a:t>
            </a:r>
            <a:r>
              <a:rPr lang="en-US" altLang="ko-KR" sz="1200" dirty="0" err="1">
                <a:latin typeface="+mn-lt"/>
                <a:ea typeface="나눔고딕OTF ExtraBold" panose="020D0904000000000000" pitchFamily="34" charset="-127"/>
              </a:rPr>
              <a:t>Mtype</a:t>
            </a:r>
            <a:r>
              <a:rPr lang="en-US" altLang="ko-KR" sz="1200" dirty="0">
                <a:latin typeface="+mn-lt"/>
                <a:ea typeface="나눔고딕OTF ExtraBold" panose="020D0904000000000000" pitchFamily="34" charset="-127"/>
              </a:rPr>
              <a:t> char(20) NOT NULL, Primary key (</a:t>
            </a:r>
            <a:r>
              <a:rPr lang="en-US" altLang="ko-KR" sz="1200" dirty="0" err="1">
                <a:latin typeface="+mn-lt"/>
                <a:ea typeface="나눔고딕OTF ExtraBold" panose="020D0904000000000000" pitchFamily="34" charset="-127"/>
              </a:rPr>
              <a:t>Mcode</a:t>
            </a:r>
            <a:r>
              <a:rPr lang="en-US" altLang="ko-KR" sz="1200" dirty="0">
                <a:latin typeface="+mn-lt"/>
                <a:ea typeface="나눔고딕OTF ExtraBold" panose="020D0904000000000000" pitchFamily="34" charset="-127"/>
              </a:rPr>
              <a:t>));</a:t>
            </a:r>
          </a:p>
          <a:p>
            <a:endParaRPr lang="en-US" altLang="ko-KR" sz="1200" dirty="0">
              <a:latin typeface="+mn-lt"/>
              <a:ea typeface="나눔고딕OTF ExtraBold" panose="020D0904000000000000" pitchFamily="34" charset="-127"/>
            </a:endParaRPr>
          </a:p>
          <a:p>
            <a:r>
              <a:rPr lang="en-US" altLang="ko-KR" sz="1200" b="1" dirty="0">
                <a:latin typeface="+mn-lt"/>
                <a:ea typeface="나눔고딕OTF ExtraBold" panose="020D0904000000000000" pitchFamily="34" charset="-127"/>
              </a:rPr>
              <a:t>#</a:t>
            </a:r>
            <a:r>
              <a:rPr lang="ko-KR" altLang="en-US" sz="1200" b="1" dirty="0" err="1">
                <a:latin typeface="+mn-lt"/>
                <a:ea typeface="나눔고딕OTF ExtraBold" panose="020D0904000000000000" pitchFamily="34" charset="-127"/>
              </a:rPr>
              <a:t>그림체</a:t>
            </a:r>
            <a:r>
              <a:rPr lang="ko-KR" altLang="en-US" sz="1200" b="1" dirty="0">
                <a:latin typeface="+mn-lt"/>
                <a:ea typeface="나눔고딕OTF ExtraBold" panose="020D0904000000000000" pitchFamily="34" charset="-127"/>
              </a:rPr>
              <a:t> 테이블 생성 </a:t>
            </a:r>
            <a:r>
              <a:rPr lang="en-US" altLang="ko-KR" sz="1200" b="1" dirty="0">
                <a:latin typeface="+mn-lt"/>
                <a:ea typeface="나눔고딕OTF ExtraBold" panose="020D0904000000000000" pitchFamily="34" charset="-127"/>
              </a:rPr>
              <a:t>DRAWING_STYLE</a:t>
            </a:r>
          </a:p>
          <a:p>
            <a:r>
              <a:rPr lang="en-US" altLang="ko-KR" sz="1200" dirty="0">
                <a:latin typeface="+mn-lt"/>
                <a:ea typeface="나눔고딕OTF ExtraBold" panose="020D0904000000000000" pitchFamily="34" charset="-127"/>
              </a:rPr>
              <a:t>CREATE TABLE DRAWING_STYLE (</a:t>
            </a:r>
            <a:r>
              <a:rPr lang="en-US" altLang="ko-KR" sz="1200" dirty="0" err="1">
                <a:latin typeface="+mn-lt"/>
                <a:ea typeface="나눔고딕OTF ExtraBold" panose="020D0904000000000000" pitchFamily="34" charset="-127"/>
              </a:rPr>
              <a:t>Dcode</a:t>
            </a:r>
            <a:r>
              <a:rPr lang="en-US" altLang="ko-KR" sz="1200" dirty="0">
                <a:latin typeface="+mn-lt"/>
                <a:ea typeface="나눔고딕OTF ExtraBold" panose="020D0904000000000000" pitchFamily="34" charset="-127"/>
              </a:rPr>
              <a:t> int(2) NOT NULL, </a:t>
            </a:r>
            <a:r>
              <a:rPr lang="en-US" altLang="ko-KR" sz="1200" dirty="0" err="1">
                <a:latin typeface="+mn-lt"/>
                <a:ea typeface="나눔고딕OTF ExtraBold" panose="020D0904000000000000" pitchFamily="34" charset="-127"/>
              </a:rPr>
              <a:t>Dtype</a:t>
            </a:r>
            <a:r>
              <a:rPr lang="en-US" altLang="ko-KR" sz="1200" dirty="0">
                <a:latin typeface="+mn-lt"/>
                <a:ea typeface="나눔고딕OTF ExtraBold" panose="020D0904000000000000" pitchFamily="34" charset="-127"/>
              </a:rPr>
              <a:t> char(20) NOT NULL, Primary key (</a:t>
            </a:r>
            <a:r>
              <a:rPr lang="en-US" altLang="ko-KR" sz="1200" dirty="0" err="1">
                <a:latin typeface="+mn-lt"/>
                <a:ea typeface="나눔고딕OTF ExtraBold" panose="020D0904000000000000" pitchFamily="34" charset="-127"/>
              </a:rPr>
              <a:t>Dcode</a:t>
            </a:r>
            <a:r>
              <a:rPr lang="en-US" altLang="ko-KR" sz="1200" dirty="0">
                <a:latin typeface="+mn-lt"/>
                <a:ea typeface="나눔고딕OTF ExtraBold" panose="020D0904000000000000" pitchFamily="34" charset="-127"/>
              </a:rPr>
              <a:t>));</a:t>
            </a:r>
          </a:p>
          <a:p>
            <a:endParaRPr lang="en-US" altLang="ko-KR" sz="1200" dirty="0">
              <a:latin typeface="+mn-lt"/>
              <a:ea typeface="나눔고딕OTF ExtraBold" panose="020D0904000000000000" pitchFamily="34" charset="-127"/>
            </a:endParaRPr>
          </a:p>
          <a:p>
            <a:r>
              <a:rPr lang="en-US" altLang="ko-KR" sz="1200" b="1" dirty="0">
                <a:latin typeface="+mn-lt"/>
                <a:ea typeface="나눔고딕OTF ExtraBold" panose="020D0904000000000000" pitchFamily="34" charset="-127"/>
              </a:rPr>
              <a:t>#</a:t>
            </a:r>
            <a:r>
              <a:rPr lang="ko-KR" altLang="en-US" sz="1200" b="1" dirty="0">
                <a:latin typeface="+mn-lt"/>
                <a:ea typeface="나눔고딕OTF ExtraBold" panose="020D0904000000000000" pitchFamily="34" charset="-127"/>
              </a:rPr>
              <a:t>웹툰</a:t>
            </a:r>
            <a:r>
              <a:rPr lang="en-US" altLang="ko-KR" sz="1200" b="1" dirty="0">
                <a:latin typeface="+mn-lt"/>
                <a:ea typeface="나눔고딕OTF ExtraBold" panose="020D0904000000000000" pitchFamily="34" charset="-127"/>
              </a:rPr>
              <a:t>-</a:t>
            </a:r>
            <a:r>
              <a:rPr lang="ko-KR" altLang="en-US" sz="1200" b="1" dirty="0">
                <a:latin typeface="+mn-lt"/>
                <a:ea typeface="나눔고딕OTF ExtraBold" panose="020D0904000000000000" pitchFamily="34" charset="-127"/>
              </a:rPr>
              <a:t>작가 테이블 생성 </a:t>
            </a:r>
            <a:r>
              <a:rPr lang="en-US" altLang="ko-KR" sz="1200" b="1" dirty="0">
                <a:latin typeface="+mn-lt"/>
                <a:ea typeface="나눔고딕OTF ExtraBold" panose="020D0904000000000000" pitchFamily="34" charset="-127"/>
              </a:rPr>
              <a:t>WT_AT</a:t>
            </a:r>
          </a:p>
          <a:p>
            <a:r>
              <a:rPr lang="en-US" altLang="ko-KR" sz="1200" dirty="0">
                <a:latin typeface="+mn-lt"/>
                <a:ea typeface="나눔고딕OTF ExtraBold" panose="020D0904000000000000" pitchFamily="34" charset="-127"/>
              </a:rPr>
              <a:t>CREATE TABLE WT_AT (</a:t>
            </a:r>
          </a:p>
          <a:p>
            <a:r>
              <a:rPr lang="en-US" altLang="ko-KR" sz="1200" dirty="0" err="1">
                <a:latin typeface="+mn-lt"/>
                <a:ea typeface="나눔고딕OTF ExtraBold" panose="020D0904000000000000" pitchFamily="34" charset="-127"/>
              </a:rPr>
              <a:t>Wcode</a:t>
            </a:r>
            <a:r>
              <a:rPr lang="en-US" altLang="ko-KR" sz="1200" dirty="0">
                <a:latin typeface="+mn-lt"/>
                <a:ea typeface="나눔고딕OTF ExtraBold" panose="020D0904000000000000" pitchFamily="34" charset="-127"/>
              </a:rPr>
              <a:t> int(4) NOT NULL,</a:t>
            </a:r>
          </a:p>
          <a:p>
            <a:r>
              <a:rPr lang="en-US" altLang="ko-KR" sz="1200" dirty="0" err="1">
                <a:latin typeface="+mn-lt"/>
                <a:ea typeface="나눔고딕OTF ExtraBold" panose="020D0904000000000000" pitchFamily="34" charset="-127"/>
              </a:rPr>
              <a:t>Aname</a:t>
            </a:r>
            <a:r>
              <a:rPr lang="en-US" altLang="ko-KR" sz="1200" dirty="0">
                <a:latin typeface="+mn-lt"/>
                <a:ea typeface="나눔고딕OTF ExtraBold" panose="020D0904000000000000" pitchFamily="34" charset="-127"/>
              </a:rPr>
              <a:t> char(10) NOT NULL,</a:t>
            </a:r>
          </a:p>
          <a:p>
            <a:r>
              <a:rPr lang="en-US" altLang="ko-KR" sz="1200" dirty="0">
                <a:latin typeface="+mn-lt"/>
                <a:ea typeface="나눔고딕OTF ExtraBold" panose="020D0904000000000000" pitchFamily="34" charset="-127"/>
              </a:rPr>
              <a:t>FOREIGN KEY (</a:t>
            </a:r>
            <a:r>
              <a:rPr lang="en-US" altLang="ko-KR" sz="1200" dirty="0" err="1">
                <a:latin typeface="+mn-lt"/>
                <a:ea typeface="나눔고딕OTF ExtraBold" panose="020D0904000000000000" pitchFamily="34" charset="-127"/>
              </a:rPr>
              <a:t>Wcode</a:t>
            </a:r>
            <a:r>
              <a:rPr lang="en-US" altLang="ko-KR" sz="1200" dirty="0">
                <a:latin typeface="+mn-lt"/>
                <a:ea typeface="나눔고딕OTF ExtraBold" panose="020D0904000000000000" pitchFamily="34" charset="-127"/>
              </a:rPr>
              <a:t>) REFERENCES WEBTOON(</a:t>
            </a:r>
            <a:r>
              <a:rPr lang="en-US" altLang="ko-KR" sz="1200" dirty="0" err="1">
                <a:latin typeface="+mn-lt"/>
                <a:ea typeface="나눔고딕OTF ExtraBold" panose="020D0904000000000000" pitchFamily="34" charset="-127"/>
              </a:rPr>
              <a:t>Wcode</a:t>
            </a:r>
            <a:r>
              <a:rPr lang="en-US" altLang="ko-KR" sz="1200" dirty="0">
                <a:latin typeface="+mn-lt"/>
                <a:ea typeface="나눔고딕OTF ExtraBold" panose="020D0904000000000000" pitchFamily="34" charset="-127"/>
              </a:rPr>
              <a:t>) ON UPDATE CASCADE,</a:t>
            </a:r>
          </a:p>
          <a:p>
            <a:r>
              <a:rPr lang="en-US" altLang="ko-KR" sz="1200" dirty="0">
                <a:latin typeface="+mn-lt"/>
                <a:ea typeface="나눔고딕OTF ExtraBold" panose="020D0904000000000000" pitchFamily="34" charset="-127"/>
              </a:rPr>
              <a:t>FOREIGN KEY (</a:t>
            </a:r>
            <a:r>
              <a:rPr lang="en-US" altLang="ko-KR" sz="1200" dirty="0" err="1">
                <a:latin typeface="+mn-lt"/>
                <a:ea typeface="나눔고딕OTF ExtraBold" panose="020D0904000000000000" pitchFamily="34" charset="-127"/>
              </a:rPr>
              <a:t>Aname</a:t>
            </a:r>
            <a:r>
              <a:rPr lang="en-US" altLang="ko-KR" sz="1200" dirty="0">
                <a:latin typeface="+mn-lt"/>
                <a:ea typeface="나눔고딕OTF ExtraBold" panose="020D0904000000000000" pitchFamily="34" charset="-127"/>
              </a:rPr>
              <a:t>) REFERENCES AUTHOR(</a:t>
            </a:r>
            <a:r>
              <a:rPr lang="en-US" altLang="ko-KR" sz="1200" dirty="0" err="1">
                <a:latin typeface="+mn-lt"/>
                <a:ea typeface="나눔고딕OTF ExtraBold" panose="020D0904000000000000" pitchFamily="34" charset="-127"/>
              </a:rPr>
              <a:t>Aname</a:t>
            </a:r>
            <a:r>
              <a:rPr lang="en-US" altLang="ko-KR" sz="1200" dirty="0">
                <a:latin typeface="+mn-lt"/>
                <a:ea typeface="나눔고딕OTF ExtraBold" panose="020D0904000000000000" pitchFamily="34" charset="-127"/>
              </a:rPr>
              <a:t>) ON UPDATE CASCADE );</a:t>
            </a:r>
          </a:p>
          <a:p>
            <a:pPr latinLnBrk="0"/>
            <a:endParaRPr lang="ko-KR" altLang="ko-KR" sz="1200" dirty="0">
              <a:latin typeface="+mn-lt"/>
            </a:endParaRPr>
          </a:p>
          <a:p>
            <a:pPr latinLnBrk="0"/>
            <a:r>
              <a:rPr lang="en-US" altLang="ko-KR" sz="1200" b="1" dirty="0">
                <a:latin typeface="+mn-lt"/>
              </a:rPr>
              <a:t>#</a:t>
            </a:r>
            <a:r>
              <a:rPr lang="ko-KR" altLang="ko-KR" sz="1200" b="1" dirty="0">
                <a:latin typeface="+mn-lt"/>
              </a:rPr>
              <a:t>웹툰</a:t>
            </a:r>
            <a:r>
              <a:rPr lang="en-US" altLang="ko-KR" sz="1200" b="1" dirty="0">
                <a:latin typeface="+mn-lt"/>
              </a:rPr>
              <a:t>-</a:t>
            </a:r>
            <a:r>
              <a:rPr lang="ko-KR" altLang="ko-KR" sz="1200" b="1" dirty="0">
                <a:latin typeface="+mn-lt"/>
              </a:rPr>
              <a:t>소재 테이블 생성 </a:t>
            </a:r>
            <a:r>
              <a:rPr lang="en-US" altLang="ko-KR" sz="1200" b="1" dirty="0">
                <a:latin typeface="+mn-lt"/>
              </a:rPr>
              <a:t>WT_M</a:t>
            </a:r>
            <a:endParaRPr lang="ko-KR" altLang="ko-KR" sz="1200" b="1" dirty="0">
              <a:latin typeface="+mn-lt"/>
            </a:endParaRPr>
          </a:p>
          <a:p>
            <a:pPr latinLnBrk="0"/>
            <a:r>
              <a:rPr lang="en-US" altLang="ko-KR" sz="1200" dirty="0">
                <a:latin typeface="+mn-lt"/>
              </a:rPr>
              <a:t>CREATE TABLE WT_M (</a:t>
            </a:r>
            <a:endParaRPr lang="ko-KR" altLang="ko-KR" sz="1200" dirty="0">
              <a:latin typeface="+mn-lt"/>
            </a:endParaRPr>
          </a:p>
          <a:p>
            <a:pPr latinLnBrk="0"/>
            <a:r>
              <a:rPr lang="en-US" altLang="ko-KR" sz="1200" dirty="0" err="1">
                <a:latin typeface="+mn-lt"/>
              </a:rPr>
              <a:t>Wcode</a:t>
            </a:r>
            <a:r>
              <a:rPr lang="en-US" altLang="ko-KR" sz="1200" dirty="0">
                <a:latin typeface="+mn-lt"/>
              </a:rPr>
              <a:t> int(4) NOT NULL,</a:t>
            </a:r>
            <a:endParaRPr lang="ko-KR" altLang="ko-KR" sz="1200" dirty="0">
              <a:latin typeface="+mn-lt"/>
            </a:endParaRPr>
          </a:p>
          <a:p>
            <a:pPr latinLnBrk="0"/>
            <a:r>
              <a:rPr lang="en-US" altLang="ko-KR" sz="1200" dirty="0" err="1">
                <a:latin typeface="+mn-lt"/>
              </a:rPr>
              <a:t>Mcode</a:t>
            </a:r>
            <a:r>
              <a:rPr lang="en-US" altLang="ko-KR" sz="1200" dirty="0">
                <a:latin typeface="+mn-lt"/>
              </a:rPr>
              <a:t> int(2) NOT NULL,</a:t>
            </a:r>
            <a:endParaRPr lang="ko-KR" altLang="ko-KR" sz="1200" dirty="0">
              <a:latin typeface="+mn-lt"/>
            </a:endParaRPr>
          </a:p>
          <a:p>
            <a:pPr latinLnBrk="0"/>
            <a:r>
              <a:rPr lang="en-US" altLang="ko-KR" sz="1200" dirty="0">
                <a:latin typeface="+mn-lt"/>
              </a:rPr>
              <a:t>FOREIGN KEY (</a:t>
            </a:r>
            <a:r>
              <a:rPr lang="en-US" altLang="ko-KR" sz="1200" dirty="0" err="1">
                <a:latin typeface="+mn-lt"/>
              </a:rPr>
              <a:t>Wcode</a:t>
            </a:r>
            <a:r>
              <a:rPr lang="en-US" altLang="ko-KR" sz="1200" dirty="0">
                <a:latin typeface="+mn-lt"/>
              </a:rPr>
              <a:t>) REFERENCES WEBTOON(</a:t>
            </a:r>
            <a:r>
              <a:rPr lang="en-US" altLang="ko-KR" sz="1200" dirty="0" err="1">
                <a:latin typeface="+mn-lt"/>
              </a:rPr>
              <a:t>Wcode</a:t>
            </a:r>
            <a:r>
              <a:rPr lang="en-US" altLang="ko-KR" sz="1200" dirty="0">
                <a:latin typeface="+mn-lt"/>
              </a:rPr>
              <a:t>) ON UPDATE CASCADE,</a:t>
            </a:r>
            <a:endParaRPr lang="ko-KR" altLang="ko-KR" sz="1200" dirty="0">
              <a:latin typeface="+mn-lt"/>
            </a:endParaRPr>
          </a:p>
          <a:p>
            <a:pPr latinLnBrk="0"/>
            <a:r>
              <a:rPr lang="en-US" altLang="ko-KR" sz="1200" dirty="0">
                <a:latin typeface="+mn-lt"/>
              </a:rPr>
              <a:t>FOREIGN KEY (</a:t>
            </a:r>
            <a:r>
              <a:rPr lang="en-US" altLang="ko-KR" sz="1200" dirty="0" err="1">
                <a:latin typeface="+mn-lt"/>
              </a:rPr>
              <a:t>Mcode</a:t>
            </a:r>
            <a:r>
              <a:rPr lang="en-US" altLang="ko-KR" sz="1200" dirty="0">
                <a:latin typeface="+mn-lt"/>
              </a:rPr>
              <a:t>) REFERENCES MATERIAL(</a:t>
            </a:r>
            <a:r>
              <a:rPr lang="en-US" altLang="ko-KR" sz="1200" dirty="0" err="1">
                <a:latin typeface="+mn-lt"/>
              </a:rPr>
              <a:t>Mcode</a:t>
            </a:r>
            <a:r>
              <a:rPr lang="en-US" altLang="ko-KR" sz="1200" dirty="0">
                <a:latin typeface="+mn-lt"/>
              </a:rPr>
              <a:t>) ON UPDATE CASCADE );</a:t>
            </a:r>
            <a:endParaRPr lang="ko-KR" altLang="ko-KR" sz="1200" dirty="0">
              <a:latin typeface="+mn-lt"/>
            </a:endParaRPr>
          </a:p>
          <a:p>
            <a:pPr latinLnBrk="0"/>
            <a:r>
              <a:rPr lang="en-US" altLang="ko-KR" sz="1200" dirty="0">
                <a:latin typeface="+mn-lt"/>
              </a:rPr>
              <a:t> </a:t>
            </a:r>
            <a:endParaRPr lang="ko-KR" altLang="ko-KR" sz="1200" dirty="0">
              <a:latin typeface="+mn-lt"/>
            </a:endParaRPr>
          </a:p>
          <a:p>
            <a:pPr latinLnBrk="0"/>
            <a:r>
              <a:rPr lang="en-US" altLang="ko-KR" sz="1200" b="1" dirty="0">
                <a:latin typeface="+mn-lt"/>
              </a:rPr>
              <a:t>#</a:t>
            </a:r>
            <a:r>
              <a:rPr lang="ko-KR" altLang="ko-KR" sz="1200" b="1" dirty="0">
                <a:latin typeface="+mn-lt"/>
              </a:rPr>
              <a:t>웹툰</a:t>
            </a:r>
            <a:r>
              <a:rPr lang="en-US" altLang="ko-KR" sz="1200" b="1" dirty="0">
                <a:latin typeface="+mn-lt"/>
              </a:rPr>
              <a:t>-</a:t>
            </a:r>
            <a:r>
              <a:rPr lang="ko-KR" altLang="ko-KR" sz="1200" b="1" dirty="0" err="1">
                <a:latin typeface="+mn-lt"/>
              </a:rPr>
              <a:t>그림체</a:t>
            </a:r>
            <a:r>
              <a:rPr lang="ko-KR" altLang="ko-KR" sz="1200" b="1" dirty="0">
                <a:latin typeface="+mn-lt"/>
              </a:rPr>
              <a:t> 테이블 생성 </a:t>
            </a:r>
            <a:r>
              <a:rPr lang="en-US" altLang="ko-KR" sz="1200" b="1" dirty="0">
                <a:latin typeface="+mn-lt"/>
              </a:rPr>
              <a:t>WT_DS</a:t>
            </a:r>
            <a:endParaRPr lang="ko-KR" altLang="ko-KR" sz="1200" b="1" dirty="0">
              <a:latin typeface="+mn-lt"/>
            </a:endParaRPr>
          </a:p>
          <a:p>
            <a:pPr latinLnBrk="0"/>
            <a:r>
              <a:rPr lang="en-US" altLang="ko-KR" sz="1200" dirty="0">
                <a:latin typeface="+mn-lt"/>
              </a:rPr>
              <a:t>CREATE TABLE WT_ DS (</a:t>
            </a:r>
            <a:endParaRPr lang="ko-KR" altLang="ko-KR" sz="1200" dirty="0">
              <a:latin typeface="+mn-lt"/>
            </a:endParaRPr>
          </a:p>
          <a:p>
            <a:pPr latinLnBrk="0"/>
            <a:r>
              <a:rPr lang="en-US" altLang="ko-KR" sz="1200" dirty="0" err="1">
                <a:latin typeface="+mn-lt"/>
              </a:rPr>
              <a:t>Wcode</a:t>
            </a:r>
            <a:r>
              <a:rPr lang="en-US" altLang="ko-KR" sz="1200" dirty="0">
                <a:latin typeface="+mn-lt"/>
              </a:rPr>
              <a:t> int(4) NOT NULL,</a:t>
            </a:r>
            <a:endParaRPr lang="ko-KR" altLang="ko-KR" sz="1200" dirty="0">
              <a:latin typeface="+mn-lt"/>
            </a:endParaRPr>
          </a:p>
          <a:p>
            <a:pPr latinLnBrk="0"/>
            <a:r>
              <a:rPr lang="en-US" altLang="ko-KR" sz="1200" dirty="0" err="1">
                <a:latin typeface="+mn-lt"/>
              </a:rPr>
              <a:t>Dcode</a:t>
            </a:r>
            <a:r>
              <a:rPr lang="en-US" altLang="ko-KR" sz="1200" dirty="0">
                <a:latin typeface="+mn-lt"/>
              </a:rPr>
              <a:t> int(2) NOT NULL,</a:t>
            </a:r>
            <a:endParaRPr lang="ko-KR" altLang="ko-KR" sz="1200" dirty="0">
              <a:latin typeface="+mn-lt"/>
            </a:endParaRPr>
          </a:p>
          <a:p>
            <a:pPr latinLnBrk="0"/>
            <a:r>
              <a:rPr lang="en-US" altLang="ko-KR" sz="1200" dirty="0">
                <a:latin typeface="+mn-lt"/>
              </a:rPr>
              <a:t>FOREIGN KEY (</a:t>
            </a:r>
            <a:r>
              <a:rPr lang="en-US" altLang="ko-KR" sz="1200" dirty="0" err="1">
                <a:latin typeface="+mn-lt"/>
              </a:rPr>
              <a:t>Wcode</a:t>
            </a:r>
            <a:r>
              <a:rPr lang="en-US" altLang="ko-KR" sz="1200" dirty="0">
                <a:latin typeface="+mn-lt"/>
              </a:rPr>
              <a:t>) REFERENCES WEBTOON(</a:t>
            </a:r>
            <a:r>
              <a:rPr lang="en-US" altLang="ko-KR" sz="1200" dirty="0" err="1">
                <a:latin typeface="+mn-lt"/>
              </a:rPr>
              <a:t>Wcode</a:t>
            </a:r>
            <a:r>
              <a:rPr lang="en-US" altLang="ko-KR" sz="1200" dirty="0">
                <a:latin typeface="+mn-lt"/>
              </a:rPr>
              <a:t>) ON UPDATE CASCADE,</a:t>
            </a:r>
            <a:endParaRPr lang="ko-KR" altLang="ko-KR" sz="1200" dirty="0">
              <a:latin typeface="+mn-lt"/>
            </a:endParaRPr>
          </a:p>
          <a:p>
            <a:pPr latinLnBrk="0"/>
            <a:r>
              <a:rPr lang="en-US" altLang="ko-KR" sz="1200" dirty="0">
                <a:latin typeface="+mn-lt"/>
              </a:rPr>
              <a:t>FOREIGN KEY (</a:t>
            </a:r>
            <a:r>
              <a:rPr lang="en-US" altLang="ko-KR" sz="1200" dirty="0" err="1">
                <a:latin typeface="+mn-lt"/>
              </a:rPr>
              <a:t>Dcode</a:t>
            </a:r>
            <a:r>
              <a:rPr lang="en-US" altLang="ko-KR" sz="1200" dirty="0">
                <a:latin typeface="+mn-lt"/>
              </a:rPr>
              <a:t>) REFERENCES DRAWING_STYLE(</a:t>
            </a:r>
            <a:r>
              <a:rPr lang="en-US" altLang="ko-KR" sz="1200" dirty="0" err="1">
                <a:latin typeface="+mn-lt"/>
              </a:rPr>
              <a:t>Dcode</a:t>
            </a:r>
            <a:r>
              <a:rPr lang="en-US" altLang="ko-KR" sz="1200" dirty="0">
                <a:latin typeface="+mn-lt"/>
              </a:rPr>
              <a:t>) ON UPDATE CASCADE );</a:t>
            </a:r>
            <a:endParaRPr lang="ko-KR" altLang="ko-KR" sz="1200" dirty="0">
              <a:latin typeface="+mn-lt"/>
            </a:endParaRPr>
          </a:p>
          <a:p>
            <a:pPr latinLnBrk="0"/>
            <a:r>
              <a:rPr lang="en-US" altLang="ko-KR" sz="1200" dirty="0">
                <a:latin typeface="+mn-lt"/>
              </a:rPr>
              <a:t> </a:t>
            </a:r>
            <a:endParaRPr lang="ko-KR" altLang="ko-KR" sz="1200" dirty="0">
              <a:latin typeface="+mn-lt"/>
            </a:endParaRPr>
          </a:p>
          <a:p>
            <a:endParaRPr lang="ko-KR" altLang="en-US" sz="1200" dirty="0">
              <a:latin typeface="+mn-lt"/>
              <a:ea typeface="나눔고딕OTF ExtraBold" panose="020D09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14836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66F2CE-6248-4A55-94DE-17D5F9771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7773" y="286874"/>
            <a:ext cx="2776453" cy="491086"/>
          </a:xfrm>
        </p:spPr>
        <p:txBody>
          <a:bodyPr>
            <a:noAutofit/>
          </a:bodyPr>
          <a:lstStyle/>
          <a:p>
            <a:pPr algn="ctr"/>
            <a:r>
              <a:rPr lang="en-US" altLang="ko-KR" sz="2800" dirty="0">
                <a:latin typeface="나눔고딕OTF ExtraBold" panose="020D0904000000000000" pitchFamily="34" charset="-127"/>
                <a:ea typeface="나눔고딕OTF ExtraBold" panose="020D0904000000000000" pitchFamily="34" charset="-127"/>
              </a:rPr>
              <a:t>Table </a:t>
            </a:r>
            <a:r>
              <a:rPr lang="ko-KR" altLang="en-US" sz="2800" dirty="0">
                <a:latin typeface="나눔고딕OTF ExtraBold" panose="020D0904000000000000" pitchFamily="34" charset="-127"/>
                <a:ea typeface="나눔고딕OTF ExtraBold" panose="020D0904000000000000" pitchFamily="34" charset="-127"/>
              </a:rPr>
              <a:t>생성 쿼리</a:t>
            </a:r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F79D1905-7B0A-44A2-B27E-ED0095B6E982}"/>
              </a:ext>
            </a:extLst>
          </p:cNvPr>
          <p:cNvSpPr txBox="1">
            <a:spLocks/>
          </p:cNvSpPr>
          <p:nvPr/>
        </p:nvSpPr>
        <p:spPr>
          <a:xfrm>
            <a:off x="593162" y="1936982"/>
            <a:ext cx="6752283" cy="35004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/>
            <a:r>
              <a:rPr lang="en-US" altLang="ko-KR" sz="1200" b="1" dirty="0"/>
              <a:t> </a:t>
            </a:r>
            <a:endParaRPr lang="ko-KR" altLang="ko-KR" sz="1200" b="1" dirty="0"/>
          </a:p>
          <a:p>
            <a:pPr latinLnBrk="0"/>
            <a:r>
              <a:rPr lang="en-US" altLang="ko-KR" sz="1200" b="1" dirty="0"/>
              <a:t>#</a:t>
            </a:r>
            <a:r>
              <a:rPr lang="ko-KR" altLang="ko-KR" sz="1200" b="1" dirty="0"/>
              <a:t>작가</a:t>
            </a:r>
            <a:r>
              <a:rPr lang="en-US" altLang="ko-KR" sz="1200" b="1" dirty="0"/>
              <a:t>-</a:t>
            </a:r>
            <a:r>
              <a:rPr lang="ko-KR" altLang="ko-KR" sz="1200" b="1" dirty="0" err="1"/>
              <a:t>그림체</a:t>
            </a:r>
            <a:r>
              <a:rPr lang="ko-KR" altLang="ko-KR" sz="1200" b="1" dirty="0"/>
              <a:t> 테이블 생성 </a:t>
            </a:r>
            <a:r>
              <a:rPr lang="en-US" altLang="ko-KR" sz="1200" b="1" dirty="0"/>
              <a:t>AT_DS</a:t>
            </a:r>
            <a:endParaRPr lang="ko-KR" altLang="ko-KR" sz="1200" b="1" dirty="0"/>
          </a:p>
          <a:p>
            <a:pPr latinLnBrk="0"/>
            <a:r>
              <a:rPr lang="en-US" altLang="ko-KR" sz="1200" dirty="0"/>
              <a:t>CREATE TABLE AT_DS (</a:t>
            </a:r>
            <a:endParaRPr lang="ko-KR" altLang="ko-KR" sz="1200" dirty="0"/>
          </a:p>
          <a:p>
            <a:pPr latinLnBrk="0"/>
            <a:r>
              <a:rPr lang="en-US" altLang="ko-KR" sz="1200" dirty="0" err="1"/>
              <a:t>Aname</a:t>
            </a:r>
            <a:r>
              <a:rPr lang="en-US" altLang="ko-KR" sz="1200" dirty="0"/>
              <a:t> char(10) NOT NULL,</a:t>
            </a:r>
            <a:endParaRPr lang="ko-KR" altLang="ko-KR" sz="1200" dirty="0"/>
          </a:p>
          <a:p>
            <a:pPr latinLnBrk="0"/>
            <a:r>
              <a:rPr lang="en-US" altLang="ko-KR" sz="1200" dirty="0" err="1"/>
              <a:t>Dcode</a:t>
            </a:r>
            <a:r>
              <a:rPr lang="en-US" altLang="ko-KR" sz="1200" dirty="0"/>
              <a:t> int(2) NOT NULL,</a:t>
            </a:r>
            <a:endParaRPr lang="ko-KR" altLang="ko-KR" sz="1200" dirty="0"/>
          </a:p>
          <a:p>
            <a:pPr latinLnBrk="0"/>
            <a:r>
              <a:rPr lang="en-US" altLang="ko-KR" sz="1200" dirty="0"/>
              <a:t>FOREIGN KEY (</a:t>
            </a:r>
            <a:r>
              <a:rPr lang="en-US" altLang="ko-KR" sz="1200" dirty="0" err="1"/>
              <a:t>Aname</a:t>
            </a:r>
            <a:r>
              <a:rPr lang="en-US" altLang="ko-KR" sz="1200" dirty="0"/>
              <a:t>) REFERENCES AUTHOR(</a:t>
            </a:r>
            <a:r>
              <a:rPr lang="en-US" altLang="ko-KR" sz="1200" dirty="0" err="1"/>
              <a:t>Aname</a:t>
            </a:r>
            <a:r>
              <a:rPr lang="en-US" altLang="ko-KR" sz="1200" dirty="0"/>
              <a:t>) ON UPDATE CASCADE,</a:t>
            </a:r>
            <a:endParaRPr lang="ko-KR" altLang="ko-KR" sz="1200" dirty="0"/>
          </a:p>
          <a:p>
            <a:pPr latinLnBrk="0"/>
            <a:r>
              <a:rPr lang="en-US" altLang="ko-KR" sz="1200" dirty="0"/>
              <a:t>FOREIGN KEY (</a:t>
            </a:r>
            <a:r>
              <a:rPr lang="en-US" altLang="ko-KR" sz="1200" dirty="0" err="1"/>
              <a:t>Dcode</a:t>
            </a:r>
            <a:r>
              <a:rPr lang="en-US" altLang="ko-KR" sz="1200" dirty="0"/>
              <a:t>) REFERENCES DRAWING_STYLE(</a:t>
            </a:r>
            <a:r>
              <a:rPr lang="en-US" altLang="ko-KR" sz="1200" dirty="0" err="1"/>
              <a:t>Dcode</a:t>
            </a:r>
            <a:r>
              <a:rPr lang="en-US" altLang="ko-KR" sz="1200" dirty="0"/>
              <a:t>) ON UPDATE CASCADE );</a:t>
            </a:r>
            <a:endParaRPr lang="ko-KR" altLang="ko-KR" sz="1200" dirty="0"/>
          </a:p>
          <a:p>
            <a:pPr latinLnBrk="0"/>
            <a:r>
              <a:rPr lang="en-US" altLang="ko-KR" sz="1200" dirty="0"/>
              <a:t> </a:t>
            </a:r>
            <a:endParaRPr lang="ko-KR" altLang="ko-KR" sz="1200" dirty="0"/>
          </a:p>
          <a:p>
            <a:pPr latinLnBrk="0"/>
            <a:r>
              <a:rPr lang="en-US" altLang="ko-KR" sz="1200" b="1" dirty="0"/>
              <a:t>#</a:t>
            </a:r>
            <a:r>
              <a:rPr lang="ko-KR" altLang="ko-KR" sz="1200" b="1" dirty="0"/>
              <a:t>이용자</a:t>
            </a:r>
            <a:r>
              <a:rPr lang="en-US" altLang="ko-KR" sz="1200" b="1" dirty="0"/>
              <a:t>-</a:t>
            </a:r>
            <a:r>
              <a:rPr lang="ko-KR" altLang="ko-KR" sz="1200" b="1" dirty="0"/>
              <a:t>소재 테이블 생성 </a:t>
            </a:r>
            <a:r>
              <a:rPr lang="en-US" altLang="ko-KR" sz="1200" b="1" dirty="0"/>
              <a:t>RD_MT</a:t>
            </a:r>
            <a:endParaRPr lang="ko-KR" altLang="ko-KR" sz="1200" b="1" dirty="0"/>
          </a:p>
          <a:p>
            <a:pPr latinLnBrk="0"/>
            <a:r>
              <a:rPr lang="en-US" altLang="ko-KR" sz="1200" dirty="0"/>
              <a:t>CREATE TABLE RD_MT (</a:t>
            </a:r>
            <a:endParaRPr lang="ko-KR" altLang="ko-KR" sz="1200" dirty="0"/>
          </a:p>
          <a:p>
            <a:pPr latinLnBrk="0"/>
            <a:r>
              <a:rPr lang="en-US" altLang="ko-KR" sz="1200" dirty="0" err="1"/>
              <a:t>userID</a:t>
            </a:r>
            <a:r>
              <a:rPr lang="en-US" altLang="ko-KR" sz="1200" dirty="0"/>
              <a:t> char(20) NOT NULL,</a:t>
            </a:r>
            <a:endParaRPr lang="ko-KR" altLang="ko-KR" sz="1200" dirty="0"/>
          </a:p>
          <a:p>
            <a:pPr latinLnBrk="0"/>
            <a:r>
              <a:rPr lang="en-US" altLang="ko-KR" sz="1200" dirty="0" err="1"/>
              <a:t>Mcode</a:t>
            </a:r>
            <a:r>
              <a:rPr lang="en-US" altLang="ko-KR" sz="1200" dirty="0"/>
              <a:t> int(2) NOT NULL,</a:t>
            </a:r>
            <a:endParaRPr lang="ko-KR" altLang="ko-KR" sz="1200" dirty="0"/>
          </a:p>
          <a:p>
            <a:pPr latinLnBrk="0"/>
            <a:r>
              <a:rPr lang="en-US" altLang="ko-KR" sz="1200" dirty="0"/>
              <a:t>FOREIGN KEY (</a:t>
            </a:r>
            <a:r>
              <a:rPr lang="en-US" altLang="ko-KR" sz="1200" dirty="0" err="1"/>
              <a:t>userID</a:t>
            </a:r>
            <a:r>
              <a:rPr lang="en-US" altLang="ko-KR" sz="1200" dirty="0"/>
              <a:t>) REFERENCES READER(</a:t>
            </a:r>
            <a:r>
              <a:rPr lang="en-US" altLang="ko-KR" sz="1200" dirty="0" err="1"/>
              <a:t>userID</a:t>
            </a:r>
            <a:r>
              <a:rPr lang="en-US" altLang="ko-KR" sz="1200" dirty="0"/>
              <a:t>) ON UPDATE CASCADE,</a:t>
            </a:r>
            <a:endParaRPr lang="ko-KR" altLang="ko-KR" sz="1200" dirty="0"/>
          </a:p>
          <a:p>
            <a:pPr latinLnBrk="0"/>
            <a:r>
              <a:rPr lang="en-US" altLang="ko-KR" sz="1200" dirty="0"/>
              <a:t>FOREIGN KEY (</a:t>
            </a:r>
            <a:r>
              <a:rPr lang="en-US" altLang="ko-KR" sz="1200" dirty="0" err="1"/>
              <a:t>Mcode</a:t>
            </a:r>
            <a:r>
              <a:rPr lang="en-US" altLang="ko-KR" sz="1200" dirty="0"/>
              <a:t>) REFERENCES MATERIAL(</a:t>
            </a:r>
            <a:r>
              <a:rPr lang="en-US" altLang="ko-KR" sz="1200" dirty="0" err="1"/>
              <a:t>Mcode</a:t>
            </a:r>
            <a:r>
              <a:rPr lang="en-US" altLang="ko-KR" sz="1200" dirty="0"/>
              <a:t>) ON UPDATE CASCADE );</a:t>
            </a:r>
            <a:endParaRPr lang="ko-KR" altLang="ko-KR" sz="1200" dirty="0"/>
          </a:p>
          <a:p>
            <a:pPr latinLnBrk="0"/>
            <a:r>
              <a:rPr lang="en-US" altLang="ko-KR" sz="1200" dirty="0"/>
              <a:t> </a:t>
            </a:r>
            <a:endParaRPr lang="ko-KR" altLang="ko-KR" sz="1200" dirty="0"/>
          </a:p>
          <a:p>
            <a:pPr latinLnBrk="0"/>
            <a:r>
              <a:rPr lang="en-US" altLang="ko-KR" sz="1200" b="1" dirty="0"/>
              <a:t>#</a:t>
            </a:r>
            <a:r>
              <a:rPr lang="ko-KR" altLang="ko-KR" sz="1200" b="1" dirty="0"/>
              <a:t>이용자</a:t>
            </a:r>
            <a:r>
              <a:rPr lang="en-US" altLang="ko-KR" sz="1200" b="1" dirty="0"/>
              <a:t>-</a:t>
            </a:r>
            <a:r>
              <a:rPr lang="ko-KR" altLang="ko-KR" sz="1200" b="1" dirty="0" err="1"/>
              <a:t>그림체</a:t>
            </a:r>
            <a:r>
              <a:rPr lang="ko-KR" altLang="ko-KR" sz="1200" b="1" dirty="0"/>
              <a:t> 테이블 생성 </a:t>
            </a:r>
            <a:r>
              <a:rPr lang="en-US" altLang="ko-KR" sz="1200" b="1" dirty="0"/>
              <a:t>RD_DS</a:t>
            </a:r>
            <a:endParaRPr lang="ko-KR" altLang="ko-KR" sz="1200" b="1" dirty="0"/>
          </a:p>
          <a:p>
            <a:pPr latinLnBrk="0"/>
            <a:r>
              <a:rPr lang="en-US" altLang="ko-KR" sz="1200" dirty="0"/>
              <a:t>CREATE TABLE RD_DS (</a:t>
            </a:r>
            <a:endParaRPr lang="ko-KR" altLang="ko-KR" sz="1200" dirty="0"/>
          </a:p>
          <a:p>
            <a:pPr latinLnBrk="0"/>
            <a:r>
              <a:rPr lang="en-US" altLang="ko-KR" sz="1200" dirty="0" err="1"/>
              <a:t>userID</a:t>
            </a:r>
            <a:r>
              <a:rPr lang="en-US" altLang="ko-KR" sz="1200" dirty="0"/>
              <a:t> char(20) NOT NULL,</a:t>
            </a:r>
            <a:endParaRPr lang="ko-KR" altLang="ko-KR" sz="1200" dirty="0"/>
          </a:p>
          <a:p>
            <a:pPr latinLnBrk="0"/>
            <a:r>
              <a:rPr lang="en-US" altLang="ko-KR" sz="1200" dirty="0" err="1"/>
              <a:t>Dcode</a:t>
            </a:r>
            <a:r>
              <a:rPr lang="en-US" altLang="ko-KR" sz="1200" dirty="0"/>
              <a:t> int(2) NOT NULL,</a:t>
            </a:r>
            <a:endParaRPr lang="ko-KR" altLang="ko-KR" sz="1200" dirty="0"/>
          </a:p>
          <a:p>
            <a:pPr latinLnBrk="0"/>
            <a:r>
              <a:rPr lang="en-US" altLang="ko-KR" sz="1200" dirty="0"/>
              <a:t>FOREIGN KEY (</a:t>
            </a:r>
            <a:r>
              <a:rPr lang="en-US" altLang="ko-KR" sz="1200" dirty="0" err="1"/>
              <a:t>userID</a:t>
            </a:r>
            <a:r>
              <a:rPr lang="en-US" altLang="ko-KR" sz="1200" dirty="0"/>
              <a:t>) REFERENCES READER(</a:t>
            </a:r>
            <a:r>
              <a:rPr lang="en-US" altLang="ko-KR" sz="1200" dirty="0" err="1"/>
              <a:t>userID</a:t>
            </a:r>
            <a:r>
              <a:rPr lang="en-US" altLang="ko-KR" sz="1200" dirty="0"/>
              <a:t>) ON UPDATE CASCADE ,</a:t>
            </a:r>
            <a:endParaRPr lang="ko-KR" altLang="ko-KR" sz="1200" dirty="0"/>
          </a:p>
          <a:p>
            <a:pPr latinLnBrk="0"/>
            <a:r>
              <a:rPr lang="en-US" altLang="ko-KR" sz="1200" dirty="0"/>
              <a:t>FOREIGN KEY (</a:t>
            </a:r>
            <a:r>
              <a:rPr lang="en-US" altLang="ko-KR" sz="1200" dirty="0" err="1"/>
              <a:t>Dcode</a:t>
            </a:r>
            <a:r>
              <a:rPr lang="en-US" altLang="ko-KR" sz="1200" dirty="0"/>
              <a:t>) REFERENCES DRAWING_STYLE(</a:t>
            </a:r>
            <a:r>
              <a:rPr lang="en-US" altLang="ko-KR" sz="1200" dirty="0" err="1"/>
              <a:t>Dcode</a:t>
            </a:r>
            <a:r>
              <a:rPr lang="en-US" altLang="ko-KR" sz="1200" dirty="0"/>
              <a:t>) ON UPDATE CASCADE );</a:t>
            </a:r>
            <a:endParaRPr lang="ko-KR" altLang="ko-KR" sz="1200" dirty="0"/>
          </a:p>
          <a:p>
            <a:pPr latinLnBrk="0"/>
            <a:r>
              <a:rPr lang="en-US" altLang="ko-KR" sz="1200" dirty="0"/>
              <a:t> </a:t>
            </a:r>
            <a:endParaRPr lang="ko-KR" altLang="ko-KR" sz="1200" dirty="0"/>
          </a:p>
          <a:p>
            <a:pPr latinLnBrk="0"/>
            <a:r>
              <a:rPr lang="en-US" altLang="ko-KR" sz="1200" b="1" dirty="0"/>
              <a:t>#</a:t>
            </a:r>
            <a:r>
              <a:rPr lang="ko-KR" altLang="ko-KR" sz="1200" b="1" dirty="0"/>
              <a:t>이용자</a:t>
            </a:r>
            <a:r>
              <a:rPr lang="en-US" altLang="ko-KR" sz="1200" b="1" dirty="0"/>
              <a:t>-</a:t>
            </a:r>
            <a:r>
              <a:rPr lang="ko-KR" altLang="ko-KR" sz="1200" b="1" dirty="0"/>
              <a:t>웹툰 테이블 생성 </a:t>
            </a:r>
            <a:r>
              <a:rPr lang="en-US" altLang="ko-KR" sz="1200" b="1" dirty="0"/>
              <a:t>RD_WT</a:t>
            </a:r>
            <a:endParaRPr lang="ko-KR" altLang="ko-KR" sz="1200" b="1" dirty="0"/>
          </a:p>
          <a:p>
            <a:pPr latinLnBrk="0"/>
            <a:r>
              <a:rPr lang="en-US" altLang="ko-KR" sz="1200" dirty="0"/>
              <a:t>CREATE TABLE RD_WT (</a:t>
            </a:r>
            <a:endParaRPr lang="ko-KR" altLang="ko-KR" sz="1200" dirty="0"/>
          </a:p>
          <a:p>
            <a:pPr latinLnBrk="0"/>
            <a:r>
              <a:rPr lang="en-US" altLang="ko-KR" sz="1200" dirty="0" err="1"/>
              <a:t>userID</a:t>
            </a:r>
            <a:r>
              <a:rPr lang="en-US" altLang="ko-KR" sz="1200" dirty="0"/>
              <a:t> char(20) NOT NULL,</a:t>
            </a:r>
            <a:endParaRPr lang="ko-KR" altLang="ko-KR" sz="1200" dirty="0"/>
          </a:p>
          <a:p>
            <a:pPr latinLnBrk="0"/>
            <a:r>
              <a:rPr lang="en-US" altLang="ko-KR" sz="1200" dirty="0" err="1"/>
              <a:t>Wcode</a:t>
            </a:r>
            <a:r>
              <a:rPr lang="en-US" altLang="ko-KR" sz="1200" dirty="0"/>
              <a:t> int(4) NOT NULL,</a:t>
            </a:r>
            <a:endParaRPr lang="ko-KR" altLang="ko-KR" sz="1200" dirty="0"/>
          </a:p>
          <a:p>
            <a:pPr latinLnBrk="0"/>
            <a:r>
              <a:rPr lang="en-US" altLang="ko-KR" sz="1200" dirty="0"/>
              <a:t>FOREIGN KEY (</a:t>
            </a:r>
            <a:r>
              <a:rPr lang="en-US" altLang="ko-KR" sz="1200" dirty="0" err="1"/>
              <a:t>userID</a:t>
            </a:r>
            <a:r>
              <a:rPr lang="en-US" altLang="ko-KR" sz="1200" dirty="0"/>
              <a:t>) REFERENCES READER(</a:t>
            </a:r>
            <a:r>
              <a:rPr lang="en-US" altLang="ko-KR" sz="1200" dirty="0" err="1"/>
              <a:t>userID</a:t>
            </a:r>
            <a:r>
              <a:rPr lang="en-US" altLang="ko-KR" sz="1200" dirty="0"/>
              <a:t>) ON UPDATE CASCADE ,</a:t>
            </a:r>
            <a:endParaRPr lang="ko-KR" altLang="ko-KR" sz="1200" dirty="0"/>
          </a:p>
          <a:p>
            <a:pPr latinLnBrk="0"/>
            <a:r>
              <a:rPr lang="en-US" altLang="ko-KR" sz="1200" dirty="0"/>
              <a:t>FOREIGN KEY (</a:t>
            </a:r>
            <a:r>
              <a:rPr lang="en-US" altLang="ko-KR" sz="1200" dirty="0" err="1"/>
              <a:t>Wcode</a:t>
            </a:r>
            <a:r>
              <a:rPr lang="en-US" altLang="ko-KR" sz="1200" dirty="0"/>
              <a:t>) REFERENCES WEBTOON(</a:t>
            </a:r>
            <a:r>
              <a:rPr lang="en-US" altLang="ko-KR" sz="1200" dirty="0" err="1"/>
              <a:t>Wcode</a:t>
            </a:r>
            <a:r>
              <a:rPr lang="en-US" altLang="ko-KR" sz="1200" dirty="0"/>
              <a:t>) ON UPDATE CASCADE);</a:t>
            </a:r>
            <a:endParaRPr lang="ko-KR" altLang="ko-KR" sz="1200" dirty="0"/>
          </a:p>
          <a:p>
            <a:pPr latinLnBrk="0"/>
            <a:r>
              <a:rPr lang="en-US" altLang="ko-KR" sz="1200" dirty="0"/>
              <a:t> </a:t>
            </a:r>
            <a:endParaRPr lang="ko-KR" altLang="ko-KR" sz="1200" b="1" dirty="0"/>
          </a:p>
          <a:p>
            <a:pPr latinLnBrk="0"/>
            <a:r>
              <a:rPr lang="en-US" altLang="ko-KR" sz="1200" b="1" dirty="0"/>
              <a:t>#</a:t>
            </a:r>
            <a:r>
              <a:rPr lang="ko-KR" altLang="ko-KR" sz="1200" b="1" dirty="0"/>
              <a:t>이용자</a:t>
            </a:r>
            <a:r>
              <a:rPr lang="en-US" altLang="ko-KR" sz="1200" b="1" dirty="0"/>
              <a:t>-</a:t>
            </a:r>
            <a:r>
              <a:rPr lang="ko-KR" altLang="ko-KR" sz="1200" b="1" dirty="0"/>
              <a:t>작가 테이블 생성 </a:t>
            </a:r>
            <a:r>
              <a:rPr lang="en-US" altLang="ko-KR" sz="1200" b="1" dirty="0"/>
              <a:t>RD_AT</a:t>
            </a:r>
            <a:endParaRPr lang="ko-KR" altLang="ko-KR" sz="1200" b="1" dirty="0"/>
          </a:p>
          <a:p>
            <a:pPr latinLnBrk="0"/>
            <a:r>
              <a:rPr lang="en-US" altLang="ko-KR" sz="1200" dirty="0"/>
              <a:t>CREATE TABLE RD_AT (</a:t>
            </a:r>
            <a:endParaRPr lang="ko-KR" altLang="ko-KR" sz="1200" dirty="0"/>
          </a:p>
          <a:p>
            <a:pPr latinLnBrk="0"/>
            <a:r>
              <a:rPr lang="en-US" altLang="ko-KR" sz="1200" dirty="0" err="1"/>
              <a:t>userID</a:t>
            </a:r>
            <a:r>
              <a:rPr lang="en-US" altLang="ko-KR" sz="1200" dirty="0"/>
              <a:t> char(20) NOT NULL,</a:t>
            </a:r>
            <a:endParaRPr lang="ko-KR" altLang="ko-KR" sz="1200" dirty="0"/>
          </a:p>
          <a:p>
            <a:pPr latinLnBrk="0"/>
            <a:r>
              <a:rPr lang="en-US" altLang="ko-KR" sz="1200" dirty="0" err="1"/>
              <a:t>Aname</a:t>
            </a:r>
            <a:r>
              <a:rPr lang="en-US" altLang="ko-KR" sz="1200" dirty="0"/>
              <a:t> char(10) NOT NULL,</a:t>
            </a:r>
            <a:endParaRPr lang="ko-KR" altLang="ko-KR" sz="1200" dirty="0"/>
          </a:p>
          <a:p>
            <a:pPr latinLnBrk="0"/>
            <a:r>
              <a:rPr lang="en-US" altLang="ko-KR" sz="1200" dirty="0"/>
              <a:t>FOREIGN KEY (</a:t>
            </a:r>
            <a:r>
              <a:rPr lang="en-US" altLang="ko-KR" sz="1200" dirty="0" err="1"/>
              <a:t>userID</a:t>
            </a:r>
            <a:r>
              <a:rPr lang="en-US" altLang="ko-KR" sz="1200" dirty="0"/>
              <a:t>) REFERENCES READER(</a:t>
            </a:r>
            <a:r>
              <a:rPr lang="en-US" altLang="ko-KR" sz="1200" dirty="0" err="1"/>
              <a:t>userID</a:t>
            </a:r>
            <a:r>
              <a:rPr lang="en-US" altLang="ko-KR" sz="1200" dirty="0"/>
              <a:t>) ON UPDATE CASCADE ,</a:t>
            </a:r>
            <a:endParaRPr lang="ko-KR" altLang="ko-KR" sz="1200" dirty="0"/>
          </a:p>
          <a:p>
            <a:pPr latinLnBrk="0"/>
            <a:r>
              <a:rPr lang="en-US" altLang="ko-KR" sz="1200" dirty="0"/>
              <a:t>FOREIGN KEY (</a:t>
            </a:r>
            <a:r>
              <a:rPr lang="en-US" altLang="ko-KR" sz="1200" dirty="0" err="1"/>
              <a:t>Aname</a:t>
            </a:r>
            <a:r>
              <a:rPr lang="en-US" altLang="ko-KR" sz="1200" dirty="0"/>
              <a:t>) REFERENCES AUTHOR(</a:t>
            </a:r>
            <a:r>
              <a:rPr lang="en-US" altLang="ko-KR" sz="1200" dirty="0" err="1"/>
              <a:t>Aname</a:t>
            </a:r>
            <a:r>
              <a:rPr lang="en-US" altLang="ko-KR" sz="1200" dirty="0"/>
              <a:t>) ON UPDATE CASCADE);</a:t>
            </a:r>
            <a:endParaRPr lang="ko-KR" altLang="ko-KR" sz="1200" dirty="0"/>
          </a:p>
          <a:p>
            <a:endParaRPr lang="ko-KR" altLang="en-US" sz="1200" dirty="0">
              <a:latin typeface="나눔고딕OTF ExtraBold" panose="020D0904000000000000" pitchFamily="34" charset="-127"/>
              <a:ea typeface="나눔고딕OTF ExtraBold" panose="020D09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866707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B4FF250E-BE28-4A83-85BD-4C88A82282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5700" y="182878"/>
            <a:ext cx="8134350" cy="800100"/>
          </a:xfr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066F2CE-6248-4A55-94DE-17D5F9771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8512" y="370001"/>
            <a:ext cx="2776453" cy="491086"/>
          </a:xfrm>
        </p:spPr>
        <p:txBody>
          <a:bodyPr>
            <a:noAutofit/>
          </a:bodyPr>
          <a:lstStyle/>
          <a:p>
            <a:pPr algn="ctr"/>
            <a:r>
              <a:rPr lang="en-US" altLang="ko-KR" sz="2800" dirty="0">
                <a:latin typeface="나눔고딕OTF ExtraBold" panose="020D0904000000000000" pitchFamily="34" charset="-127"/>
                <a:ea typeface="나눔고딕OTF ExtraBold" panose="020D0904000000000000" pitchFamily="34" charset="-127"/>
              </a:rPr>
              <a:t>Table </a:t>
            </a:r>
            <a:r>
              <a:rPr lang="ko-KR" altLang="en-US" sz="2800" dirty="0">
                <a:latin typeface="나눔고딕OTF ExtraBold" panose="020D0904000000000000" pitchFamily="34" charset="-127"/>
                <a:ea typeface="나눔고딕OTF ExtraBold" panose="020D0904000000000000" pitchFamily="34" charset="-127"/>
              </a:rPr>
              <a:t>상세 설명</a:t>
            </a:r>
          </a:p>
        </p:txBody>
      </p:sp>
      <p:sp>
        <p:nvSpPr>
          <p:cNvPr id="8" name="액자 7">
            <a:extLst>
              <a:ext uri="{FF2B5EF4-FFF2-40B4-BE49-F238E27FC236}">
                <a16:creationId xmlns:a16="http://schemas.microsoft.com/office/drawing/2014/main" id="{F31B13D4-D7BE-4B88-8CF9-334295D64E6A}"/>
              </a:ext>
            </a:extLst>
          </p:cNvPr>
          <p:cNvSpPr/>
          <p:nvPr/>
        </p:nvSpPr>
        <p:spPr>
          <a:xfrm>
            <a:off x="308089" y="1113906"/>
            <a:ext cx="11562486" cy="5478088"/>
          </a:xfrm>
          <a:prstGeom prst="frame">
            <a:avLst>
              <a:gd name="adj1" fmla="val 1686"/>
            </a:avLst>
          </a:prstGeom>
          <a:solidFill>
            <a:srgbClr val="0FD2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3A7CA21-67AB-43EF-9621-5649127BF5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518" y="1269854"/>
            <a:ext cx="11237627" cy="3958852"/>
          </a:xfrm>
          <a:prstGeom prst="rect">
            <a:avLst/>
          </a:prstGeom>
        </p:spPr>
      </p:pic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D6B6C930-EB7C-4CA4-8405-A0A40F4430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31" y="5278584"/>
            <a:ext cx="3234182" cy="11483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0AC4BD5-563B-4454-887D-E8C43CA07BEC}"/>
              </a:ext>
            </a:extLst>
          </p:cNvPr>
          <p:cNvSpPr txBox="1"/>
          <p:nvPr/>
        </p:nvSpPr>
        <p:spPr>
          <a:xfrm>
            <a:off x="6490852" y="5368028"/>
            <a:ext cx="2601884" cy="888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&lt;WEBTOON&gt;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66 rows, 7 columns</a:t>
            </a:r>
          </a:p>
        </p:txBody>
      </p:sp>
    </p:spTree>
    <p:extLst>
      <p:ext uri="{BB962C8B-B14F-4D97-AF65-F5344CB8AC3E}">
        <p14:creationId xmlns:p14="http://schemas.microsoft.com/office/powerpoint/2010/main" val="2624828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B4FF250E-BE28-4A83-85BD-4C88A82282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5700" y="182878"/>
            <a:ext cx="8134350" cy="800100"/>
          </a:xfr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066F2CE-6248-4A55-94DE-17D5F9771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8517" y="370001"/>
            <a:ext cx="2776453" cy="491086"/>
          </a:xfrm>
        </p:spPr>
        <p:txBody>
          <a:bodyPr>
            <a:noAutofit/>
          </a:bodyPr>
          <a:lstStyle/>
          <a:p>
            <a:pPr algn="ctr"/>
            <a:r>
              <a:rPr lang="en-US" altLang="ko-KR" sz="2800" dirty="0">
                <a:latin typeface="나눔고딕OTF ExtraBold" panose="020D0904000000000000" pitchFamily="34" charset="-127"/>
                <a:ea typeface="나눔고딕OTF ExtraBold" panose="020D0904000000000000" pitchFamily="34" charset="-127"/>
              </a:rPr>
              <a:t>Table </a:t>
            </a:r>
            <a:r>
              <a:rPr lang="ko-KR" altLang="en-US" sz="2800" dirty="0">
                <a:latin typeface="나눔고딕OTF ExtraBold" panose="020D0904000000000000" pitchFamily="34" charset="-127"/>
                <a:ea typeface="나눔고딕OTF ExtraBold" panose="020D0904000000000000" pitchFamily="34" charset="-127"/>
              </a:rPr>
              <a:t>상세 설명</a:t>
            </a:r>
          </a:p>
        </p:txBody>
      </p:sp>
      <p:sp>
        <p:nvSpPr>
          <p:cNvPr id="8" name="액자 7">
            <a:extLst>
              <a:ext uri="{FF2B5EF4-FFF2-40B4-BE49-F238E27FC236}">
                <a16:creationId xmlns:a16="http://schemas.microsoft.com/office/drawing/2014/main" id="{F31B13D4-D7BE-4B88-8CF9-334295D64E6A}"/>
              </a:ext>
            </a:extLst>
          </p:cNvPr>
          <p:cNvSpPr/>
          <p:nvPr/>
        </p:nvSpPr>
        <p:spPr>
          <a:xfrm>
            <a:off x="308089" y="1113906"/>
            <a:ext cx="11562486" cy="5478088"/>
          </a:xfrm>
          <a:prstGeom prst="frame">
            <a:avLst>
              <a:gd name="adj1" fmla="val 1686"/>
            </a:avLst>
          </a:prstGeom>
          <a:solidFill>
            <a:srgbClr val="0FD2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5A21763-1FAD-4363-A1B3-FB6B4B14B6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900" y="1429337"/>
            <a:ext cx="1741517" cy="399932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D3A9F2C-B0E3-41F9-84DC-C037D5B4344F}"/>
              </a:ext>
            </a:extLst>
          </p:cNvPr>
          <p:cNvSpPr txBox="1"/>
          <p:nvPr/>
        </p:nvSpPr>
        <p:spPr>
          <a:xfrm>
            <a:off x="577514" y="5428661"/>
            <a:ext cx="2601884" cy="888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&lt;AUTHOR&gt;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74 rows, 1 columns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CA5AC217-56F5-4FCA-81DF-D4760AA6D4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7619" y="1427795"/>
            <a:ext cx="2375912" cy="399932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AC9EE3C-FCF5-4D76-8DB1-5395536B4348}"/>
              </a:ext>
            </a:extLst>
          </p:cNvPr>
          <p:cNvSpPr txBox="1"/>
          <p:nvPr/>
        </p:nvSpPr>
        <p:spPr>
          <a:xfrm>
            <a:off x="6154633" y="5427120"/>
            <a:ext cx="2601884" cy="888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&lt;MATERIAL&gt;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49 rows, 2 columns</a:t>
            </a:r>
          </a:p>
        </p:txBody>
      </p:sp>
      <p:pic>
        <p:nvPicPr>
          <p:cNvPr id="19" name="그림 18" descr="텍스트이(가) 표시된 사진&#10;&#10;자동 생성된 설명">
            <a:extLst>
              <a:ext uri="{FF2B5EF4-FFF2-40B4-BE49-F238E27FC236}">
                <a16:creationId xmlns:a16="http://schemas.microsoft.com/office/drawing/2014/main" id="{F49E55ED-0929-471B-AA86-7F65D2CFB5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7027" y="1427798"/>
            <a:ext cx="2233039" cy="400086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3250639-D599-4FC8-B1F7-359477E8A6CD}"/>
              </a:ext>
            </a:extLst>
          </p:cNvPr>
          <p:cNvSpPr txBox="1"/>
          <p:nvPr/>
        </p:nvSpPr>
        <p:spPr>
          <a:xfrm>
            <a:off x="9012604" y="5427121"/>
            <a:ext cx="2601884" cy="888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&lt;DRAWING_STYLE&gt;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20 rows, 2 columns</a:t>
            </a:r>
          </a:p>
        </p:txBody>
      </p:sp>
      <p:pic>
        <p:nvPicPr>
          <p:cNvPr id="4" name="그림 3" descr="테이블이(가) 표시된 사진&#10;&#10;자동 생성된 설명">
            <a:extLst>
              <a:ext uri="{FF2B5EF4-FFF2-40B4-BE49-F238E27FC236}">
                <a16:creationId xmlns:a16="http://schemas.microsoft.com/office/drawing/2014/main" id="{D0A207DA-E812-47CD-AD80-BFFF399720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1723" y="1427796"/>
            <a:ext cx="2692400" cy="399932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6EABC2C-DC1D-4BBA-9E5E-445CBC7974BB}"/>
              </a:ext>
            </a:extLst>
          </p:cNvPr>
          <p:cNvSpPr txBox="1"/>
          <p:nvPr/>
        </p:nvSpPr>
        <p:spPr>
          <a:xfrm>
            <a:off x="3145819" y="5427120"/>
            <a:ext cx="2601884" cy="888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&lt;WT_AT&gt;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79 rows, 3 columns</a:t>
            </a:r>
          </a:p>
        </p:txBody>
      </p:sp>
    </p:spTree>
    <p:extLst>
      <p:ext uri="{BB962C8B-B14F-4D97-AF65-F5344CB8AC3E}">
        <p14:creationId xmlns:p14="http://schemas.microsoft.com/office/powerpoint/2010/main" val="36202490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B4FF250E-BE28-4A83-85BD-4C88A82282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5700" y="182878"/>
            <a:ext cx="8134350" cy="800100"/>
          </a:xfr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066F2CE-6248-4A55-94DE-17D5F9771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8516" y="370001"/>
            <a:ext cx="2776453" cy="491086"/>
          </a:xfrm>
        </p:spPr>
        <p:txBody>
          <a:bodyPr>
            <a:noAutofit/>
          </a:bodyPr>
          <a:lstStyle/>
          <a:p>
            <a:pPr algn="ctr"/>
            <a:r>
              <a:rPr lang="en-US" altLang="ko-KR" sz="2800" dirty="0">
                <a:latin typeface="나눔고딕OTF ExtraBold" panose="020D0904000000000000" pitchFamily="34" charset="-127"/>
                <a:ea typeface="나눔고딕OTF ExtraBold" panose="020D0904000000000000" pitchFamily="34" charset="-127"/>
              </a:rPr>
              <a:t>Table </a:t>
            </a:r>
            <a:r>
              <a:rPr lang="ko-KR" altLang="en-US" sz="2800" dirty="0">
                <a:latin typeface="나눔고딕OTF ExtraBold" panose="020D0904000000000000" pitchFamily="34" charset="-127"/>
                <a:ea typeface="나눔고딕OTF ExtraBold" panose="020D0904000000000000" pitchFamily="34" charset="-127"/>
              </a:rPr>
              <a:t>상세 설명</a:t>
            </a:r>
          </a:p>
        </p:txBody>
      </p:sp>
      <p:sp>
        <p:nvSpPr>
          <p:cNvPr id="8" name="액자 7">
            <a:extLst>
              <a:ext uri="{FF2B5EF4-FFF2-40B4-BE49-F238E27FC236}">
                <a16:creationId xmlns:a16="http://schemas.microsoft.com/office/drawing/2014/main" id="{F31B13D4-D7BE-4B88-8CF9-334295D64E6A}"/>
              </a:ext>
            </a:extLst>
          </p:cNvPr>
          <p:cNvSpPr/>
          <p:nvPr/>
        </p:nvSpPr>
        <p:spPr>
          <a:xfrm>
            <a:off x="308089" y="1113906"/>
            <a:ext cx="11562486" cy="5478088"/>
          </a:xfrm>
          <a:prstGeom prst="frame">
            <a:avLst>
              <a:gd name="adj1" fmla="val 1686"/>
            </a:avLst>
          </a:prstGeom>
          <a:solidFill>
            <a:srgbClr val="0FD2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7A05B31-A469-40CB-A4A8-4AA4CA4E3E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701" y="1970116"/>
            <a:ext cx="1970059" cy="4293186"/>
          </a:xfrm>
          <a:prstGeom prst="rect">
            <a:avLst/>
          </a:prstGeom>
        </p:spPr>
      </p:pic>
      <p:pic>
        <p:nvPicPr>
          <p:cNvPr id="13" name="그림 12" descr="텍스트이(가) 표시된 사진&#10;&#10;자동 생성된 설명">
            <a:extLst>
              <a:ext uri="{FF2B5EF4-FFF2-40B4-BE49-F238E27FC236}">
                <a16:creationId xmlns:a16="http://schemas.microsoft.com/office/drawing/2014/main" id="{A8B47097-3093-475C-B128-F1AD63873A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1760" y="1358298"/>
            <a:ext cx="5095471" cy="4880090"/>
          </a:xfrm>
          <a:prstGeom prst="rect">
            <a:avLst/>
          </a:prstGeom>
        </p:spPr>
      </p:pic>
      <p:pic>
        <p:nvPicPr>
          <p:cNvPr id="15" name="그림 14" descr="텍스트이(가) 표시된 사진&#10;&#10;자동 생성된 설명">
            <a:extLst>
              <a:ext uri="{FF2B5EF4-FFF2-40B4-BE49-F238E27FC236}">
                <a16:creationId xmlns:a16="http://schemas.microsoft.com/office/drawing/2014/main" id="{DBA8425E-4DAC-4FC4-89CB-F49F5A667C3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989"/>
          <a:stretch/>
        </p:blipFill>
        <p:spPr>
          <a:xfrm>
            <a:off x="7208628" y="1408125"/>
            <a:ext cx="4337405" cy="4830263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6A6BBA3A-AF88-468C-A4A8-1D0299DD20B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7144" y="1628893"/>
            <a:ext cx="2319599" cy="4388725"/>
          </a:xfrm>
          <a:prstGeom prst="rect">
            <a:avLst/>
          </a:prstGeom>
        </p:spPr>
      </p:pic>
      <p:pic>
        <p:nvPicPr>
          <p:cNvPr id="19" name="그림 18" descr="텍스트이(가) 표시된 사진&#10;&#10;자동 생성된 설명">
            <a:extLst>
              <a:ext uri="{FF2B5EF4-FFF2-40B4-BE49-F238E27FC236}">
                <a16:creationId xmlns:a16="http://schemas.microsoft.com/office/drawing/2014/main" id="{61B35F6F-C9A0-43DA-A7DE-705714B733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0119" y="2952898"/>
            <a:ext cx="4403123" cy="16908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760A353-C2B4-4F23-B8A6-5EFFFD8DA4A3}"/>
              </a:ext>
            </a:extLst>
          </p:cNvPr>
          <p:cNvSpPr txBox="1"/>
          <p:nvPr/>
        </p:nvSpPr>
        <p:spPr>
          <a:xfrm>
            <a:off x="806993" y="1358193"/>
            <a:ext cx="1719473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&lt;READER&gt;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6CB4FA-BC19-4316-8E87-A4677939D256}"/>
              </a:ext>
            </a:extLst>
          </p:cNvPr>
          <p:cNvSpPr txBox="1"/>
          <p:nvPr/>
        </p:nvSpPr>
        <p:spPr>
          <a:xfrm>
            <a:off x="6624489" y="4605850"/>
            <a:ext cx="1719473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&lt;RD_WT&gt;</a:t>
            </a:r>
          </a:p>
        </p:txBody>
      </p:sp>
    </p:spTree>
    <p:extLst>
      <p:ext uri="{BB962C8B-B14F-4D97-AF65-F5344CB8AC3E}">
        <p14:creationId xmlns:p14="http://schemas.microsoft.com/office/powerpoint/2010/main" val="2929261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B4FF250E-BE28-4A83-85BD-4C88A82282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5700" y="182878"/>
            <a:ext cx="8134350" cy="800100"/>
          </a:xfr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066F2CE-6248-4A55-94DE-17D5F9771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8516" y="370001"/>
            <a:ext cx="2776453" cy="491086"/>
          </a:xfrm>
        </p:spPr>
        <p:txBody>
          <a:bodyPr>
            <a:noAutofit/>
          </a:bodyPr>
          <a:lstStyle/>
          <a:p>
            <a:pPr algn="ctr"/>
            <a:r>
              <a:rPr lang="en-US" altLang="ko-KR" sz="2800" dirty="0">
                <a:latin typeface="나눔고딕OTF ExtraBold" panose="020D0904000000000000" pitchFamily="34" charset="-127"/>
                <a:ea typeface="나눔고딕OTF ExtraBold" panose="020D0904000000000000" pitchFamily="34" charset="-127"/>
              </a:rPr>
              <a:t>Table </a:t>
            </a:r>
            <a:r>
              <a:rPr lang="ko-KR" altLang="en-US" sz="2800" dirty="0">
                <a:latin typeface="나눔고딕OTF ExtraBold" panose="020D0904000000000000" pitchFamily="34" charset="-127"/>
                <a:ea typeface="나눔고딕OTF ExtraBold" panose="020D0904000000000000" pitchFamily="34" charset="-127"/>
              </a:rPr>
              <a:t>상세 설명</a:t>
            </a:r>
          </a:p>
        </p:txBody>
      </p:sp>
      <p:sp>
        <p:nvSpPr>
          <p:cNvPr id="8" name="액자 7">
            <a:extLst>
              <a:ext uri="{FF2B5EF4-FFF2-40B4-BE49-F238E27FC236}">
                <a16:creationId xmlns:a16="http://schemas.microsoft.com/office/drawing/2014/main" id="{F31B13D4-D7BE-4B88-8CF9-334295D64E6A}"/>
              </a:ext>
            </a:extLst>
          </p:cNvPr>
          <p:cNvSpPr/>
          <p:nvPr/>
        </p:nvSpPr>
        <p:spPr>
          <a:xfrm>
            <a:off x="308089" y="1113906"/>
            <a:ext cx="11562486" cy="5478088"/>
          </a:xfrm>
          <a:prstGeom prst="frame">
            <a:avLst>
              <a:gd name="adj1" fmla="val 1686"/>
            </a:avLst>
          </a:prstGeom>
          <a:solidFill>
            <a:srgbClr val="0FD2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5" name="그림 4" descr="텍스트, 점수판이(가) 표시된 사진&#10;&#10;자동 생성된 설명">
            <a:extLst>
              <a:ext uri="{FF2B5EF4-FFF2-40B4-BE49-F238E27FC236}">
                <a16:creationId xmlns:a16="http://schemas.microsoft.com/office/drawing/2014/main" id="{E4A2DEE1-CA83-4A22-9CF9-B8008953EB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816" y="1423011"/>
            <a:ext cx="2287521" cy="321468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6FFD7FC-3F28-4016-9154-EEC910D0EF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816" y="4768627"/>
            <a:ext cx="2287521" cy="1487999"/>
          </a:xfrm>
          <a:prstGeom prst="rect">
            <a:avLst/>
          </a:prstGeom>
        </p:spPr>
      </p:pic>
      <p:pic>
        <p:nvPicPr>
          <p:cNvPr id="10" name="그림 9" descr="테이블이(가) 표시된 사진&#10;&#10;자동 생성된 설명">
            <a:extLst>
              <a:ext uri="{FF2B5EF4-FFF2-40B4-BE49-F238E27FC236}">
                <a16:creationId xmlns:a16="http://schemas.microsoft.com/office/drawing/2014/main" id="{11516732-9E1F-4426-BFD3-C01FB1FD29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4740" y="1423011"/>
            <a:ext cx="2287521" cy="323587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03A06CF-50DD-4B98-9D77-32069C4B46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4740" y="4789810"/>
            <a:ext cx="2287521" cy="146681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29AAA98-FDC6-4E8C-832A-7B04C5513D67}"/>
              </a:ext>
            </a:extLst>
          </p:cNvPr>
          <p:cNvSpPr txBox="1"/>
          <p:nvPr/>
        </p:nvSpPr>
        <p:spPr>
          <a:xfrm>
            <a:off x="3218636" y="2993099"/>
            <a:ext cx="2844116" cy="1719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&lt;WT_M&gt;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소재 타입 기준별로 </a:t>
            </a: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3~5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개의 소재로 웹툰 분류</a:t>
            </a:r>
            <a:endParaRPr lang="en-US" altLang="ko-KR" dirty="0">
              <a:latin typeface="나눔고딕OTF Light" panose="020D0904000000000000" pitchFamily="34" charset="-127"/>
              <a:ea typeface="나눔고딕OTF Light" panose="020D09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201 rows, 2 columns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C5060E-9360-4A54-88AC-7F2F83485BC7}"/>
              </a:ext>
            </a:extLst>
          </p:cNvPr>
          <p:cNvSpPr txBox="1"/>
          <p:nvPr/>
        </p:nvSpPr>
        <p:spPr>
          <a:xfrm>
            <a:off x="8612448" y="2785350"/>
            <a:ext cx="2844116" cy="2135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&lt;WT_DS&gt;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dirty="0" err="1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그림체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 타입 기준별로 </a:t>
            </a: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3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개 내외의 그림체로 웹툰 분류</a:t>
            </a:r>
            <a:endParaRPr lang="en-US" altLang="ko-KR" dirty="0">
              <a:latin typeface="나눔고딕OTF Light" panose="020D0904000000000000" pitchFamily="34" charset="-127"/>
              <a:ea typeface="나눔고딕OTF Light" panose="020D0904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200 rows, 2 columns</a:t>
            </a:r>
          </a:p>
        </p:txBody>
      </p:sp>
    </p:spTree>
    <p:extLst>
      <p:ext uri="{BB962C8B-B14F-4D97-AF65-F5344CB8AC3E}">
        <p14:creationId xmlns:p14="http://schemas.microsoft.com/office/powerpoint/2010/main" val="32148600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B4FF250E-BE28-4A83-85BD-4C88A82282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5700" y="182878"/>
            <a:ext cx="8134350" cy="800100"/>
          </a:xfr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066F2CE-6248-4A55-94DE-17D5F9771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8514" y="370001"/>
            <a:ext cx="2776453" cy="491086"/>
          </a:xfrm>
        </p:spPr>
        <p:txBody>
          <a:bodyPr>
            <a:noAutofit/>
          </a:bodyPr>
          <a:lstStyle/>
          <a:p>
            <a:pPr algn="ctr"/>
            <a:r>
              <a:rPr lang="en-US" altLang="ko-KR" sz="2800" dirty="0">
                <a:latin typeface="나눔고딕OTF ExtraBold" panose="020D0904000000000000" pitchFamily="34" charset="-127"/>
                <a:ea typeface="나눔고딕OTF ExtraBold" panose="020D0904000000000000" pitchFamily="34" charset="-127"/>
              </a:rPr>
              <a:t>Table </a:t>
            </a:r>
            <a:r>
              <a:rPr lang="ko-KR" altLang="en-US" sz="2800" dirty="0">
                <a:latin typeface="나눔고딕OTF ExtraBold" panose="020D0904000000000000" pitchFamily="34" charset="-127"/>
                <a:ea typeface="나눔고딕OTF ExtraBold" panose="020D0904000000000000" pitchFamily="34" charset="-127"/>
              </a:rPr>
              <a:t>상세 설명</a:t>
            </a:r>
          </a:p>
        </p:txBody>
      </p:sp>
      <p:sp>
        <p:nvSpPr>
          <p:cNvPr id="8" name="액자 7">
            <a:extLst>
              <a:ext uri="{FF2B5EF4-FFF2-40B4-BE49-F238E27FC236}">
                <a16:creationId xmlns:a16="http://schemas.microsoft.com/office/drawing/2014/main" id="{F31B13D4-D7BE-4B88-8CF9-334295D64E6A}"/>
              </a:ext>
            </a:extLst>
          </p:cNvPr>
          <p:cNvSpPr/>
          <p:nvPr/>
        </p:nvSpPr>
        <p:spPr>
          <a:xfrm>
            <a:off x="308089" y="1113906"/>
            <a:ext cx="11562486" cy="5478088"/>
          </a:xfrm>
          <a:prstGeom prst="frame">
            <a:avLst>
              <a:gd name="adj1" fmla="val 1686"/>
            </a:avLst>
          </a:prstGeom>
          <a:solidFill>
            <a:srgbClr val="0FD2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4" name="그림 3" descr="텍스트이(가) 표시된 사진&#10;&#10;자동 생성된 설명">
            <a:extLst>
              <a:ext uri="{FF2B5EF4-FFF2-40B4-BE49-F238E27FC236}">
                <a16:creationId xmlns:a16="http://schemas.microsoft.com/office/drawing/2014/main" id="{8E3654A2-E0C6-4117-8621-DCA97B6F74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595" y="1503624"/>
            <a:ext cx="4586198" cy="2212166"/>
          </a:xfrm>
          <a:prstGeom prst="rect">
            <a:avLst/>
          </a:prstGeom>
        </p:spPr>
      </p:pic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D697E9E1-A6E6-484D-96F9-7531CFF208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3326" y="1503624"/>
            <a:ext cx="4760420" cy="2287579"/>
          </a:xfrm>
          <a:prstGeom prst="rect">
            <a:avLst/>
          </a:prstGeom>
        </p:spPr>
      </p:pic>
      <p:pic>
        <p:nvPicPr>
          <p:cNvPr id="9" name="그림 8" descr="텍스트이(가) 표시된 사진&#10;&#10;자동 생성된 설명">
            <a:extLst>
              <a:ext uri="{FF2B5EF4-FFF2-40B4-BE49-F238E27FC236}">
                <a16:creationId xmlns:a16="http://schemas.microsoft.com/office/drawing/2014/main" id="{279325EA-2733-42BD-93EC-CF8BA943AE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594" y="3997442"/>
            <a:ext cx="4586197" cy="2144905"/>
          </a:xfrm>
          <a:prstGeom prst="rect">
            <a:avLst/>
          </a:prstGeom>
        </p:spPr>
      </p:pic>
      <p:pic>
        <p:nvPicPr>
          <p:cNvPr id="11" name="그림 10" descr="텍스트이(가) 표시된 사진&#10;&#10;자동 생성된 설명">
            <a:extLst>
              <a:ext uri="{FF2B5EF4-FFF2-40B4-BE49-F238E27FC236}">
                <a16:creationId xmlns:a16="http://schemas.microsoft.com/office/drawing/2014/main" id="{0B72B2EA-857A-40BB-8938-B5F2D59D5F3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3326" y="4223615"/>
            <a:ext cx="4762540" cy="1686733"/>
          </a:xfrm>
          <a:prstGeom prst="rect">
            <a:avLst/>
          </a:prstGeom>
        </p:spPr>
      </p:pic>
      <p:pic>
        <p:nvPicPr>
          <p:cNvPr id="14" name="그림 13" descr="텍스트이(가) 표시된 사진&#10;&#10;자동 생성된 설명">
            <a:extLst>
              <a:ext uri="{FF2B5EF4-FFF2-40B4-BE49-F238E27FC236}">
                <a16:creationId xmlns:a16="http://schemas.microsoft.com/office/drawing/2014/main" id="{4F4B66B5-0679-4D4D-B5C0-9EDA8C2409F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254" y="1848260"/>
            <a:ext cx="4277947" cy="1580740"/>
          </a:xfrm>
          <a:prstGeom prst="rect">
            <a:avLst/>
          </a:prstGeom>
        </p:spPr>
      </p:pic>
      <p:pic>
        <p:nvPicPr>
          <p:cNvPr id="16" name="그림 15" descr="텍스트이(가) 표시된 사진&#10;&#10;자동 생성된 설명">
            <a:extLst>
              <a:ext uri="{FF2B5EF4-FFF2-40B4-BE49-F238E27FC236}">
                <a16:creationId xmlns:a16="http://schemas.microsoft.com/office/drawing/2014/main" id="{AA7ED428-8BFA-48C9-A3B1-8210F2B2A0C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4037" y="1932881"/>
            <a:ext cx="4192385" cy="1609088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C9FCC7E1-ECE9-4B5F-9D63-7FA27053264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503" y="4313844"/>
            <a:ext cx="4323447" cy="1680096"/>
          </a:xfrm>
          <a:prstGeom prst="rect">
            <a:avLst/>
          </a:prstGeom>
        </p:spPr>
      </p:pic>
      <p:pic>
        <p:nvPicPr>
          <p:cNvPr id="20" name="그림 19" descr="텍스트이(가) 표시된 사진&#10;&#10;자동 생성된 설명">
            <a:extLst>
              <a:ext uri="{FF2B5EF4-FFF2-40B4-BE49-F238E27FC236}">
                <a16:creationId xmlns:a16="http://schemas.microsoft.com/office/drawing/2014/main" id="{4D626FB3-5E34-40FA-B08D-7F0397592B3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4037" y="4549832"/>
            <a:ext cx="4290899" cy="1609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119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C5FE6CA7-F073-4701-873E-D5E7DA4B4D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2989" y="31749"/>
            <a:ext cx="6843222" cy="3878309"/>
          </a:xfrm>
          <a:prstGeom prst="rect">
            <a:avLst/>
          </a:prstGeom>
        </p:spPr>
      </p:pic>
      <p:pic>
        <p:nvPicPr>
          <p:cNvPr id="5" name="그림 4" descr="테이블이(가) 표시된 사진&#10;&#10;자동 생성된 설명">
            <a:extLst>
              <a:ext uri="{FF2B5EF4-FFF2-40B4-BE49-F238E27FC236}">
                <a16:creationId xmlns:a16="http://schemas.microsoft.com/office/drawing/2014/main" id="{3FF695B0-BBF0-440E-8D8A-B58867E4B8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365751" cy="3732696"/>
          </a:xfrm>
          <a:prstGeom prst="rect">
            <a:avLst/>
          </a:prstGeom>
        </p:spPr>
      </p:pic>
      <p:pic>
        <p:nvPicPr>
          <p:cNvPr id="7" name="그림 6" descr="테이블이(가) 표시된 사진&#10;&#10;자동 생성된 설명">
            <a:extLst>
              <a:ext uri="{FF2B5EF4-FFF2-40B4-BE49-F238E27FC236}">
                <a16:creationId xmlns:a16="http://schemas.microsoft.com/office/drawing/2014/main" id="{182102BB-F94C-44CC-A852-8BFA1E7929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8300" y="3316544"/>
            <a:ext cx="4644215" cy="5226396"/>
          </a:xfrm>
          <a:prstGeom prst="rect">
            <a:avLst/>
          </a:prstGeom>
        </p:spPr>
      </p:pic>
      <p:pic>
        <p:nvPicPr>
          <p:cNvPr id="9" name="그림 8" descr="테이블이(가) 표시된 사진&#10;&#10;자동 생성된 설명">
            <a:extLst>
              <a:ext uri="{FF2B5EF4-FFF2-40B4-BE49-F238E27FC236}">
                <a16:creationId xmlns:a16="http://schemas.microsoft.com/office/drawing/2014/main" id="{B35A50E1-C17B-4668-B2E1-B9F80EAC8B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19838"/>
            <a:ext cx="4178300" cy="4806950"/>
          </a:xfrm>
          <a:prstGeom prst="rect">
            <a:avLst/>
          </a:prstGeom>
        </p:spPr>
      </p:pic>
      <p:pic>
        <p:nvPicPr>
          <p:cNvPr id="13" name="그림 12" descr="테이블이(가) 표시된 사진&#10;&#10;자동 생성된 설명">
            <a:extLst>
              <a:ext uri="{FF2B5EF4-FFF2-40B4-BE49-F238E27FC236}">
                <a16:creationId xmlns:a16="http://schemas.microsoft.com/office/drawing/2014/main" id="{DFFA8A94-F1DD-4590-BC90-9C34F37774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0215" y="3182215"/>
            <a:ext cx="3911600" cy="4400550"/>
          </a:xfrm>
          <a:prstGeom prst="rect">
            <a:avLst/>
          </a:prstGeom>
        </p:spPr>
      </p:pic>
      <p:sp>
        <p:nvSpPr>
          <p:cNvPr id="14" name="제목 1">
            <a:extLst>
              <a:ext uri="{FF2B5EF4-FFF2-40B4-BE49-F238E27FC236}">
                <a16:creationId xmlns:a16="http://schemas.microsoft.com/office/drawing/2014/main" id="{038420A9-FA0B-4532-AE73-A8140C9C0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0839" y="3071001"/>
            <a:ext cx="3390322" cy="491086"/>
          </a:xfrm>
        </p:spPr>
        <p:txBody>
          <a:bodyPr>
            <a:noAutofit/>
          </a:bodyPr>
          <a:lstStyle/>
          <a:p>
            <a:pPr algn="ctr"/>
            <a:r>
              <a:rPr lang="ko-KR" altLang="en-US" sz="2800" dirty="0">
                <a:solidFill>
                  <a:schemeClr val="bg1"/>
                </a:solidFill>
                <a:highlight>
                  <a:srgbClr val="000000"/>
                </a:highlight>
                <a:latin typeface="나눔고딕OTF ExtraBold" panose="020D0904000000000000" pitchFamily="34" charset="-127"/>
                <a:ea typeface="나눔고딕OTF ExtraBold" panose="020D0904000000000000" pitchFamily="34" charset="-127"/>
              </a:rPr>
              <a:t>데이터 입력 과정 </a:t>
            </a:r>
          </a:p>
        </p:txBody>
      </p:sp>
    </p:spTree>
    <p:extLst>
      <p:ext uri="{BB962C8B-B14F-4D97-AF65-F5344CB8AC3E}">
        <p14:creationId xmlns:p14="http://schemas.microsoft.com/office/powerpoint/2010/main" val="27718406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B4FF250E-BE28-4A83-85BD-4C88A82282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5700" y="182878"/>
            <a:ext cx="8134350" cy="800100"/>
          </a:xfr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066F2CE-6248-4A55-94DE-17D5F9771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5621" y="370637"/>
            <a:ext cx="1668089" cy="491086"/>
          </a:xfrm>
        </p:spPr>
        <p:txBody>
          <a:bodyPr>
            <a:noAutofit/>
          </a:bodyPr>
          <a:lstStyle/>
          <a:p>
            <a:pPr algn="ctr"/>
            <a:r>
              <a:rPr lang="ko-KR" altLang="en-US" sz="2800" dirty="0">
                <a:latin typeface="나눔고딕OTF ExtraBold" panose="020D0904000000000000" pitchFamily="34" charset="-127"/>
                <a:ea typeface="나눔고딕OTF ExtraBold" panose="020D0904000000000000" pitchFamily="34" charset="-127"/>
              </a:rPr>
              <a:t>해결 질의</a:t>
            </a:r>
          </a:p>
        </p:txBody>
      </p:sp>
      <p:sp>
        <p:nvSpPr>
          <p:cNvPr id="8" name="액자 7">
            <a:extLst>
              <a:ext uri="{FF2B5EF4-FFF2-40B4-BE49-F238E27FC236}">
                <a16:creationId xmlns:a16="http://schemas.microsoft.com/office/drawing/2014/main" id="{F31B13D4-D7BE-4B88-8CF9-334295D64E6A}"/>
              </a:ext>
            </a:extLst>
          </p:cNvPr>
          <p:cNvSpPr/>
          <p:nvPr/>
        </p:nvSpPr>
        <p:spPr>
          <a:xfrm>
            <a:off x="308089" y="1113906"/>
            <a:ext cx="11562486" cy="5478088"/>
          </a:xfrm>
          <a:prstGeom prst="frame">
            <a:avLst>
              <a:gd name="adj1" fmla="val 1686"/>
            </a:avLst>
          </a:prstGeom>
          <a:solidFill>
            <a:srgbClr val="0FD2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4" name="그림 3" descr="텍스트이(가) 표시된 사진&#10;&#10;자동 생성된 설명">
            <a:extLst>
              <a:ext uri="{FF2B5EF4-FFF2-40B4-BE49-F238E27FC236}">
                <a16:creationId xmlns:a16="http://schemas.microsoft.com/office/drawing/2014/main" id="{CC78F7CE-0F5B-4696-B042-78608FD2C4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97" y="1329458"/>
            <a:ext cx="7398558" cy="50521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16C88DE-9A18-43D1-8591-032363903441}"/>
              </a:ext>
            </a:extLst>
          </p:cNvPr>
          <p:cNvSpPr txBox="1"/>
          <p:nvPr/>
        </p:nvSpPr>
        <p:spPr>
          <a:xfrm>
            <a:off x="8170663" y="2456414"/>
            <a:ext cx="3408966" cy="2793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User6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 </a:t>
            </a:r>
            <a:r>
              <a:rPr lang="ko-KR" altLang="en-US" dirty="0">
                <a:solidFill>
                  <a:srgbClr val="FF0000"/>
                </a:solidFill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이용자의 취향 소재 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목록과 </a:t>
            </a:r>
            <a:r>
              <a:rPr lang="en-US" altLang="ko-KR" dirty="0">
                <a:solidFill>
                  <a:srgbClr val="FF0000"/>
                </a:solidFill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3</a:t>
            </a:r>
            <a:r>
              <a:rPr lang="ko-KR" altLang="en-US" dirty="0">
                <a:solidFill>
                  <a:srgbClr val="FF0000"/>
                </a:solidFill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개 이상 중복되는 소재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를 가진 웹툰을 추천</a:t>
            </a:r>
            <a:endParaRPr lang="en-US" altLang="ko-KR" dirty="0">
              <a:latin typeface="나눔고딕OTF Light" panose="020D0904000000000000" pitchFamily="34" charset="-127"/>
              <a:ea typeface="나눔고딕OTF Light" panose="020D0904000000000000" pitchFamily="34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JOIN, GROUP BY, HAVING, COUNT 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함수 사용</a:t>
            </a:r>
            <a:endParaRPr lang="en-US" altLang="ko-KR" dirty="0">
              <a:latin typeface="나눔고딕OTF Light" panose="020D0904000000000000" pitchFamily="34" charset="-127"/>
              <a:ea typeface="나눔고딕OTF Light" panose="020D09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26725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B4FF250E-BE28-4A83-85BD-4C88A82282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5700" y="182878"/>
            <a:ext cx="8134350" cy="800100"/>
          </a:xfr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066F2CE-6248-4A55-94DE-17D5F9771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5619" y="370637"/>
            <a:ext cx="1668089" cy="491086"/>
          </a:xfrm>
        </p:spPr>
        <p:txBody>
          <a:bodyPr>
            <a:noAutofit/>
          </a:bodyPr>
          <a:lstStyle/>
          <a:p>
            <a:pPr algn="ctr"/>
            <a:r>
              <a:rPr lang="ko-KR" altLang="en-US" sz="2800" dirty="0">
                <a:latin typeface="나눔고딕OTF ExtraBold" panose="020D0904000000000000" pitchFamily="34" charset="-127"/>
                <a:ea typeface="나눔고딕OTF ExtraBold" panose="020D0904000000000000" pitchFamily="34" charset="-127"/>
              </a:rPr>
              <a:t>해결 질의</a:t>
            </a:r>
          </a:p>
        </p:txBody>
      </p:sp>
      <p:sp>
        <p:nvSpPr>
          <p:cNvPr id="8" name="액자 7">
            <a:extLst>
              <a:ext uri="{FF2B5EF4-FFF2-40B4-BE49-F238E27FC236}">
                <a16:creationId xmlns:a16="http://schemas.microsoft.com/office/drawing/2014/main" id="{F31B13D4-D7BE-4B88-8CF9-334295D64E6A}"/>
              </a:ext>
            </a:extLst>
          </p:cNvPr>
          <p:cNvSpPr/>
          <p:nvPr/>
        </p:nvSpPr>
        <p:spPr>
          <a:xfrm>
            <a:off x="308089" y="1113906"/>
            <a:ext cx="11562486" cy="5478088"/>
          </a:xfrm>
          <a:prstGeom prst="frame">
            <a:avLst>
              <a:gd name="adj1" fmla="val 1686"/>
            </a:avLst>
          </a:prstGeom>
          <a:solidFill>
            <a:srgbClr val="0FD2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6C88DE-9A18-43D1-8591-032363903441}"/>
              </a:ext>
            </a:extLst>
          </p:cNvPr>
          <p:cNvSpPr txBox="1"/>
          <p:nvPr/>
        </p:nvSpPr>
        <p:spPr>
          <a:xfrm>
            <a:off x="8163098" y="2449831"/>
            <a:ext cx="3475760" cy="2793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User11 </a:t>
            </a:r>
            <a:r>
              <a:rPr lang="ko-KR" altLang="en-US" dirty="0">
                <a:solidFill>
                  <a:srgbClr val="FF0000"/>
                </a:solidFill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이용자의 취향 </a:t>
            </a:r>
            <a:r>
              <a:rPr lang="ko-KR" altLang="en-US" dirty="0" err="1">
                <a:solidFill>
                  <a:srgbClr val="FF0000"/>
                </a:solidFill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그림체</a:t>
            </a:r>
            <a:r>
              <a:rPr lang="ko-KR" altLang="en-US" dirty="0">
                <a:solidFill>
                  <a:srgbClr val="FF0000"/>
                </a:solidFill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 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목록과 </a:t>
            </a:r>
            <a:r>
              <a:rPr lang="en-US" altLang="ko-KR" dirty="0">
                <a:solidFill>
                  <a:srgbClr val="FF0000"/>
                </a:solidFill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3</a:t>
            </a:r>
            <a:r>
              <a:rPr lang="ko-KR" altLang="en-US" dirty="0">
                <a:solidFill>
                  <a:srgbClr val="FF0000"/>
                </a:solidFill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개 이상 중복되는 그림체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를 가진 웹툰을 추천</a:t>
            </a:r>
            <a:endParaRPr lang="en-US" altLang="ko-KR" dirty="0">
              <a:latin typeface="나눔고딕OTF Light" panose="020D0904000000000000" pitchFamily="34" charset="-127"/>
              <a:ea typeface="나눔고딕OTF Light" panose="020D0904000000000000" pitchFamily="34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JOIN, GROUP BY, HAVING, COUNT 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함수 사용</a:t>
            </a:r>
            <a:endParaRPr lang="en-US" altLang="ko-KR" dirty="0">
              <a:latin typeface="나눔고딕OTF Light" panose="020D0904000000000000" pitchFamily="34" charset="-127"/>
              <a:ea typeface="나눔고딕OTF Light" panose="020D0904000000000000" pitchFamily="34" charset="-127"/>
            </a:endParaRPr>
          </a:p>
        </p:txBody>
      </p:sp>
      <p:pic>
        <p:nvPicPr>
          <p:cNvPr id="5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D0BC5975-8857-410E-82CE-96E6D8ECCE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142" y="1948642"/>
            <a:ext cx="7521895" cy="3795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0702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B4FF250E-BE28-4A83-85BD-4C88A82282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5700" y="182878"/>
            <a:ext cx="8134350" cy="800100"/>
          </a:xfr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066F2CE-6248-4A55-94DE-17D5F9771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5619" y="370637"/>
            <a:ext cx="1668089" cy="491086"/>
          </a:xfrm>
        </p:spPr>
        <p:txBody>
          <a:bodyPr>
            <a:noAutofit/>
          </a:bodyPr>
          <a:lstStyle/>
          <a:p>
            <a:pPr algn="ctr"/>
            <a:r>
              <a:rPr lang="ko-KR" altLang="en-US" sz="2800" dirty="0">
                <a:latin typeface="나눔고딕OTF ExtraBold" panose="020D0904000000000000" pitchFamily="34" charset="-127"/>
                <a:ea typeface="나눔고딕OTF ExtraBold" panose="020D0904000000000000" pitchFamily="34" charset="-127"/>
              </a:rPr>
              <a:t>해결 질의</a:t>
            </a:r>
          </a:p>
        </p:txBody>
      </p:sp>
      <p:sp>
        <p:nvSpPr>
          <p:cNvPr id="8" name="액자 7">
            <a:extLst>
              <a:ext uri="{FF2B5EF4-FFF2-40B4-BE49-F238E27FC236}">
                <a16:creationId xmlns:a16="http://schemas.microsoft.com/office/drawing/2014/main" id="{F31B13D4-D7BE-4B88-8CF9-334295D64E6A}"/>
              </a:ext>
            </a:extLst>
          </p:cNvPr>
          <p:cNvSpPr/>
          <p:nvPr/>
        </p:nvSpPr>
        <p:spPr>
          <a:xfrm>
            <a:off x="308089" y="1113906"/>
            <a:ext cx="11562486" cy="5478088"/>
          </a:xfrm>
          <a:prstGeom prst="frame">
            <a:avLst>
              <a:gd name="adj1" fmla="val 1686"/>
            </a:avLst>
          </a:prstGeom>
          <a:solidFill>
            <a:srgbClr val="0FD2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6C88DE-9A18-43D1-8591-032363903441}"/>
              </a:ext>
            </a:extLst>
          </p:cNvPr>
          <p:cNvSpPr txBox="1"/>
          <p:nvPr/>
        </p:nvSpPr>
        <p:spPr>
          <a:xfrm>
            <a:off x="8170663" y="2880362"/>
            <a:ext cx="3408966" cy="1685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User3 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이용자가 선호하는 웹툰 작가의 다른 작품을 추천</a:t>
            </a:r>
            <a:endParaRPr lang="en-US" altLang="ko-KR" dirty="0">
              <a:latin typeface="나눔고딕OTF Light" panose="020D0904000000000000" pitchFamily="34" charset="-127"/>
              <a:ea typeface="나눔고딕OTF Light" panose="020D0904000000000000" pitchFamily="34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ko-KR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JOIN </a:t>
            </a:r>
            <a:r>
              <a:rPr lang="ko-KR" altLang="en-US" dirty="0">
                <a:latin typeface="나눔고딕OTF Light" panose="020D0904000000000000" pitchFamily="34" charset="-127"/>
                <a:ea typeface="나눔고딕OTF Light" panose="020D0904000000000000" pitchFamily="34" charset="-127"/>
              </a:rPr>
              <a:t>함수 사용</a:t>
            </a:r>
            <a:endParaRPr lang="en-US" altLang="ko-KR" dirty="0">
              <a:latin typeface="나눔고딕OTF Light" panose="020D0904000000000000" pitchFamily="34" charset="-127"/>
              <a:ea typeface="나눔고딕OTF Light" panose="020D0904000000000000" pitchFamily="34" charset="-127"/>
            </a:endParaRPr>
          </a:p>
        </p:txBody>
      </p:sp>
      <p:pic>
        <p:nvPicPr>
          <p:cNvPr id="5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96442AAA-D849-4D45-AC05-408A52E3BA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228" y="1492769"/>
            <a:ext cx="7502464" cy="4716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767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B4FF250E-BE28-4A83-85BD-4C88A82282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5700" y="182878"/>
            <a:ext cx="8134350" cy="800100"/>
          </a:xfr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066F2CE-6248-4A55-94DE-17D5F9771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5621" y="370637"/>
            <a:ext cx="1668089" cy="491086"/>
          </a:xfrm>
        </p:spPr>
        <p:txBody>
          <a:bodyPr>
            <a:noAutofit/>
          </a:bodyPr>
          <a:lstStyle/>
          <a:p>
            <a:pPr algn="ctr"/>
            <a:r>
              <a:rPr lang="ko-KR" altLang="en-US" sz="2800" dirty="0">
                <a:latin typeface="나눔고딕OTF ExtraBold" panose="020D0904000000000000" pitchFamily="34" charset="-127"/>
                <a:ea typeface="나눔고딕OTF ExtraBold" panose="020D0904000000000000" pitchFamily="34" charset="-127"/>
              </a:rPr>
              <a:t>해결 질의</a:t>
            </a:r>
          </a:p>
        </p:txBody>
      </p:sp>
      <p:sp>
        <p:nvSpPr>
          <p:cNvPr id="8" name="액자 7">
            <a:extLst>
              <a:ext uri="{FF2B5EF4-FFF2-40B4-BE49-F238E27FC236}">
                <a16:creationId xmlns:a16="http://schemas.microsoft.com/office/drawing/2014/main" id="{F31B13D4-D7BE-4B88-8CF9-334295D64E6A}"/>
              </a:ext>
            </a:extLst>
          </p:cNvPr>
          <p:cNvSpPr/>
          <p:nvPr/>
        </p:nvSpPr>
        <p:spPr>
          <a:xfrm>
            <a:off x="308089" y="1113906"/>
            <a:ext cx="11562486" cy="5478088"/>
          </a:xfrm>
          <a:prstGeom prst="frame">
            <a:avLst>
              <a:gd name="adj1" fmla="val 1686"/>
            </a:avLst>
          </a:prstGeom>
          <a:solidFill>
            <a:srgbClr val="0FD2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6C88DE-9A18-43D1-8591-032363903441}"/>
              </a:ext>
            </a:extLst>
          </p:cNvPr>
          <p:cNvSpPr txBox="1"/>
          <p:nvPr/>
        </p:nvSpPr>
        <p:spPr>
          <a:xfrm>
            <a:off x="4076005" y="2477846"/>
            <a:ext cx="4039985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ko-KR" sz="6000" dirty="0">
                <a:latin typeface="나눔고딕OTF ExtraBold" panose="020D0904000000000000" pitchFamily="34" charset="-127"/>
                <a:ea typeface="나눔고딕OTF ExtraBold" panose="020D0904000000000000" pitchFamily="34" charset="-127"/>
              </a:rPr>
              <a:t>!! </a:t>
            </a:r>
            <a:r>
              <a:rPr lang="ko-KR" altLang="en-US" sz="6000" dirty="0">
                <a:latin typeface="나눔고딕OTF ExtraBold" panose="020D0904000000000000" pitchFamily="34" charset="-127"/>
                <a:ea typeface="나눔고딕OTF ExtraBold" panose="020D0904000000000000" pitchFamily="34" charset="-127"/>
              </a:rPr>
              <a:t>실 구현 </a:t>
            </a:r>
            <a:r>
              <a:rPr lang="en-US" altLang="ko-KR" sz="6000" dirty="0">
                <a:latin typeface="나눔고딕OTF ExtraBold" panose="020D0904000000000000" pitchFamily="34" charset="-127"/>
                <a:ea typeface="나눔고딕OTF ExtraBold" panose="020D0904000000000000" pitchFamily="34" charset="-127"/>
              </a:rPr>
              <a:t>!!</a:t>
            </a:r>
          </a:p>
        </p:txBody>
      </p:sp>
    </p:spTree>
    <p:extLst>
      <p:ext uri="{BB962C8B-B14F-4D97-AF65-F5344CB8AC3E}">
        <p14:creationId xmlns:p14="http://schemas.microsoft.com/office/powerpoint/2010/main" val="42159728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D2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D7CE3BB4-9BD6-438A-9BB9-73F44B7CDF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83051"/>
            <a:ext cx="9144000" cy="1176251"/>
          </a:xfrm>
        </p:spPr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김민</a:t>
            </a:r>
            <a:r>
              <a:rPr lang="en-US" altLang="ko-KR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, </a:t>
            </a:r>
            <a:r>
              <a:rPr lang="ko-KR" altLang="en-US" dirty="0" err="1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박세령</a:t>
            </a:r>
            <a:endParaRPr lang="ko-KR" altLang="en-US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6" name="액자 5">
            <a:extLst>
              <a:ext uri="{FF2B5EF4-FFF2-40B4-BE49-F238E27FC236}">
                <a16:creationId xmlns:a16="http://schemas.microsoft.com/office/drawing/2014/main" id="{F578C7D8-1F69-4858-AD4D-C41B81057B05}"/>
              </a:ext>
            </a:extLst>
          </p:cNvPr>
          <p:cNvSpPr/>
          <p:nvPr/>
        </p:nvSpPr>
        <p:spPr>
          <a:xfrm>
            <a:off x="1487978" y="1786081"/>
            <a:ext cx="9216044" cy="2552007"/>
          </a:xfrm>
          <a:prstGeom prst="frame">
            <a:avLst>
              <a:gd name="adj1" fmla="val 384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400" dirty="0">
                <a:solidFill>
                  <a:schemeClr val="bg1"/>
                </a:solidFill>
                <a:latin typeface="나눔고딕OTF ExtraBold" panose="020D0904000000000000" pitchFamily="34" charset="-127"/>
                <a:ea typeface="나눔고딕OTF ExtraBold" panose="020D0904000000000000" pitchFamily="34" charset="-127"/>
              </a:rPr>
              <a:t>감사합니다</a:t>
            </a:r>
            <a:r>
              <a:rPr lang="en-US" altLang="ko-KR" sz="5400">
                <a:solidFill>
                  <a:schemeClr val="bg1"/>
                </a:solidFill>
                <a:latin typeface="나눔고딕OTF ExtraBold" panose="020D0904000000000000" pitchFamily="34" charset="-127"/>
                <a:ea typeface="나눔고딕OTF ExtraBold" panose="020D0904000000000000" pitchFamily="34" charset="-127"/>
              </a:rPr>
              <a:t>!</a:t>
            </a:r>
            <a:endParaRPr lang="ko-KR" altLang="en-US" sz="5400" dirty="0">
              <a:solidFill>
                <a:schemeClr val="bg1"/>
              </a:solidFill>
              <a:latin typeface="나눔고딕OTF ExtraBold" panose="020D0904000000000000" pitchFamily="34" charset="-127"/>
              <a:ea typeface="나눔고딕OTF ExtraBold" panose="020D09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5766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1139</Words>
  <Application>Microsoft Office PowerPoint</Application>
  <PresentationFormat>와이드스크린</PresentationFormat>
  <Paragraphs>139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9" baseType="lpstr">
      <vt:lpstr>G마켓 산스 Bold</vt:lpstr>
      <vt:lpstr>G마켓 산스 Medium</vt:lpstr>
      <vt:lpstr>나눔고딕OTF ExtraBold</vt:lpstr>
      <vt:lpstr>나눔고딕OTF Light</vt:lpstr>
      <vt:lpstr>맑은 고딕</vt:lpstr>
      <vt:lpstr>Arial</vt:lpstr>
      <vt:lpstr>Wingdings</vt:lpstr>
      <vt:lpstr>Office 테마</vt:lpstr>
      <vt:lpstr>PowerPoint 프레젠테이션</vt:lpstr>
      <vt:lpstr>Database 개요</vt:lpstr>
      <vt:lpstr>ERD 소개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Table 생성 쿼리</vt:lpstr>
      <vt:lpstr>Table 생성 쿼리</vt:lpstr>
      <vt:lpstr>Table 상세 설명</vt:lpstr>
      <vt:lpstr>Table 상세 설명</vt:lpstr>
      <vt:lpstr>Table 상세 설명</vt:lpstr>
      <vt:lpstr>Table 상세 설명</vt:lpstr>
      <vt:lpstr>Table 상세 설명</vt:lpstr>
      <vt:lpstr>데이터 입력 과정 </vt:lpstr>
      <vt:lpstr>해결 질의</vt:lpstr>
      <vt:lpstr>해결 질의</vt:lpstr>
      <vt:lpstr>해결 질의</vt:lpstr>
      <vt:lpstr>해결 질의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김민</dc:creator>
  <cp:lastModifiedBy>김민</cp:lastModifiedBy>
  <cp:revision>38</cp:revision>
  <dcterms:created xsi:type="dcterms:W3CDTF">2022-01-11T13:54:20Z</dcterms:created>
  <dcterms:modified xsi:type="dcterms:W3CDTF">2022-01-12T13:10:19Z</dcterms:modified>
</cp:coreProperties>
</file>